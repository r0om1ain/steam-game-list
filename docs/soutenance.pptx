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y="6858000" cx="12191675"/>
  <p:notesSz cx="6858000" cy="9144000"/>
  <p:embeddedFontLst>
    <p:embeddedFont>
      <p:font typeface="Quattrocento Sans"/>
      <p:regular r:id="rId17"/>
      <p:bold r:id="rId18"/>
      <p:italic r:id="rId19"/>
      <p:boldItalic r:id="rId2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21" roundtripDataSignature="AMtx7mjWdz7iIlzS3HGCjVKWLUinzASSI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QuattrocentoSans-boldItalic.fntdata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21" Type="http://customschemas.google.com/relationships/presentationmetadata" Target="metadata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font" Target="fonts/QuattrocentoSans-regular.fntdata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font" Target="fonts/QuattrocentoSans-italic.fntdata"/><Relationship Id="rId6" Type="http://schemas.openxmlformats.org/officeDocument/2006/relationships/slide" Target="slides/slide1.xml"/><Relationship Id="rId18" Type="http://schemas.openxmlformats.org/officeDocument/2006/relationships/font" Target="fonts/QuattrocentoSans-bold.fntdata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2" name="Google Shape;82;p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Accroche : le store Steam, trop de jeux, on n’a souvent pas le nom. Dire tout de suite pourquoi Qdrant et pas Mongo/Neo4j, on y reviendra.</a:t>
            </a:r>
            <a:endParaRPr/>
          </a:p>
        </p:txBody>
      </p:sp>
      <p:sp>
        <p:nvSpPr>
          <p:cNvPr id="83" name="Google Shape;83;p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Ne pas lire les cartes. Dire : on a couvert le brief, mais le cœur c’est la recherche sémantique. Mongo aurait été plus « conforme » à l’énoncé, moins juste pour le problème.</a:t>
            </a:r>
            <a:endParaRPr/>
          </a:p>
        </p:txBody>
      </p:sp>
      <p:sp>
        <p:nvSpPr>
          <p:cNvPr id="106" name="Google Shape;106;p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7" name="Google Shape;137;p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Lire la citation à voix haute. Enchaîner sur : le genre ne discrimine plus. C’est pour ça qu’on n’a pas fait un CRUD Mongo de plus.</a:t>
            </a:r>
            <a:endParaRPr/>
          </a:p>
        </p:txBody>
      </p:sp>
      <p:sp>
        <p:nvSpPr>
          <p:cNvPr id="138" name="Google Shape;138;p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6" name="Google Shape;156;p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Insister sur ingested_at : c’est le critère « source un peu vivante » du sujet. Dire clairement qu’on a borné l’API à 150 jeux, c’est un choix, pas un oubli.</a:t>
            </a:r>
            <a:endParaRPr/>
          </a:p>
        </p:txBody>
      </p:sp>
      <p:sp>
        <p:nvSpPr>
          <p:cNvPr id="157" name="Google Shape;157;p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86" name="Google Shape;186;p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Montrer le notebook si on a 20 secondes. Dire que c’est volontairement pas clean : on a gardé les galères. Le script clean_games.py reprend le même split de header.</a:t>
            </a:r>
            <a:endParaRPr/>
          </a:p>
        </p:txBody>
      </p:sp>
      <p:sp>
        <p:nvSpPr>
          <p:cNvPr id="187" name="Google Shape;187;p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0" name="Google Shape;220;p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Enchaîner vers la reco : explosion des sorties après 2014–2016, d’où l’idée de chercher par similarité. Les graphes sont dans l’onglet Catalogue de l’app, on les montrera en démo.</a:t>
            </a:r>
            <a:endParaRPr/>
          </a:p>
        </p:txBody>
      </p:sp>
      <p:sp>
        <p:nvSpPr>
          <p:cNvPr id="221" name="Google Shape;221;p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2" name="Google Shape;242;p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C’est LA slide si on nous challenge sur l’énoncé. Dire : on a respecté l’esprit NoSQL, pas la lettre Mongo. En local Docker, clé API optionnelle sur localhost.</a:t>
            </a:r>
            <a:endParaRPr/>
          </a:p>
        </p:txBody>
      </p:sp>
      <p:sp>
        <p:nvSpPr>
          <p:cNvPr id="243" name="Google Shape;243;p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66" name="Google Shape;266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Dessiner le flux à l’oral. Mentionner cosine + 384 dims si on nous demande le modèle. MiniLM anglais : les requêtes FR marchent moins bien, on le dira aux limites.</a:t>
            </a:r>
            <a:endParaRPr/>
          </a:p>
        </p:txBody>
      </p:sp>
      <p:sp>
        <p:nvSpPr>
          <p:cNvPr id="267" name="Google Shape;267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08" name="Google Shape;308;p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Ne pas s’éterniser. Montrer une commande get 730 (CS) si on a le terminal sous la main. update vs replace : question classique, avoir la réponse prête.</a:t>
            </a:r>
            <a:endParaRPr/>
          </a:p>
        </p:txBody>
      </p:sp>
      <p:sp>
        <p:nvSpPr>
          <p:cNvPr id="309" name="Google Shape;309;p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4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1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36" name="Google Shape;336;p1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Passer en live. Taper les deux requêtes en anglais (le dire : MiniLM). Si Qdrant est vide, --limit 200. Ne pas commenter pendant que ça encode.</a:t>
            </a:r>
            <a:endParaRPr/>
          </a:p>
        </p:txBody>
      </p:sp>
      <p:sp>
        <p:nvSpPr>
          <p:cNvPr id="337" name="Google Shape;337;p1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1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55" name="Google Shape;355;p1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Ne pas s’excuser. Présenter les limites comme des choix. Si on avait plus de temps : modèle multilingue, rerank, API plus large, Qdrant cloud.</a:t>
            </a:r>
            <a:endParaRPr/>
          </a:p>
        </p:txBody>
      </p:sp>
      <p:sp>
        <p:nvSpPr>
          <p:cNvPr id="356" name="Google Shape;356;p1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1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4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4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1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5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1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6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6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1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7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17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1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8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18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18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18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0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0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20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2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2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1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1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1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2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2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2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3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3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2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E1621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66C0F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"/>
          <p:cNvSpPr txBox="1"/>
          <p:nvPr/>
        </p:nvSpPr>
        <p:spPr>
          <a:xfrm>
            <a:off x="640080" y="1325880"/>
            <a:ext cx="64008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6C0F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PROJET NOSQL  ·  BIG DATA</a:t>
            </a:r>
            <a:endParaRPr/>
          </a:p>
        </p:txBody>
      </p:sp>
      <p:sp>
        <p:nvSpPr>
          <p:cNvPr id="87" name="Google Shape;87;p1"/>
          <p:cNvSpPr txBox="1"/>
          <p:nvPr/>
        </p:nvSpPr>
        <p:spPr>
          <a:xfrm>
            <a:off x="640080" y="1737360"/>
            <a:ext cx="6583680" cy="1234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Recherche sémantique</a:t>
            </a:r>
            <a:br>
              <a:rPr b="1" i="0" lang="en-US" sz="36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</a:br>
            <a:r>
              <a:rPr b="1" i="0" lang="en-US" sz="36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sur le catalogue Steam</a:t>
            </a:r>
            <a:endParaRPr/>
          </a:p>
        </p:txBody>
      </p:sp>
      <p:sp>
        <p:nvSpPr>
          <p:cNvPr id="88" name="Google Shape;88;p1"/>
          <p:cNvSpPr txBox="1"/>
          <p:nvPr/>
        </p:nvSpPr>
        <p:spPr>
          <a:xfrm>
            <a:off x="640080" y="3200400"/>
            <a:ext cx="6217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B8C5D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On a laissé MongoDB et Neo4j de côté.</a:t>
            </a:r>
            <a:br>
              <a:rPr b="0" i="0" lang="en-US" sz="1500" u="none" cap="none" strike="noStrike">
                <a:solidFill>
                  <a:srgbClr val="B8C5D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</a:br>
            <a:r>
              <a:rPr b="0" i="0" lang="en-US" sz="1500" u="none" cap="none" strike="noStrike">
                <a:solidFill>
                  <a:srgbClr val="B8C5D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Le problème, c’était de retrouver un jeu à partir d’une envie, pas d’un titre.</a:t>
            </a:r>
            <a:endParaRPr/>
          </a:p>
        </p:txBody>
      </p:sp>
      <p:sp>
        <p:nvSpPr>
          <p:cNvPr id="89" name="Google Shape;89;p1"/>
          <p:cNvSpPr/>
          <p:nvPr/>
        </p:nvSpPr>
        <p:spPr>
          <a:xfrm>
            <a:off x="640080" y="4251960"/>
            <a:ext cx="1234440" cy="54864"/>
          </a:xfrm>
          <a:prstGeom prst="rect">
            <a:avLst/>
          </a:prstGeom>
          <a:solidFill>
            <a:srgbClr val="66C0F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1"/>
          <p:cNvSpPr txBox="1"/>
          <p:nvPr/>
        </p:nvSpPr>
        <p:spPr>
          <a:xfrm>
            <a:off x="640080" y="6309360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6B7C8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Qdrant  ·  MiniLM  ·  Streamlit</a:t>
            </a:r>
            <a:endParaRPr/>
          </a:p>
        </p:txBody>
      </p:sp>
      <p:sp>
        <p:nvSpPr>
          <p:cNvPr id="91" name="Google Shape;91;p1"/>
          <p:cNvSpPr/>
          <p:nvPr/>
        </p:nvSpPr>
        <p:spPr>
          <a:xfrm>
            <a:off x="7452360" y="1234440"/>
            <a:ext cx="4160520" cy="4160520"/>
          </a:xfrm>
          <a:prstGeom prst="roundRect">
            <a:avLst>
              <a:gd fmla="val 6000" name="adj"/>
            </a:avLst>
          </a:prstGeom>
          <a:solidFill>
            <a:srgbClr val="16202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7680960" y="1417320"/>
            <a:ext cx="3749039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6C0F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dans l’app</a:t>
            </a:r>
            <a:endParaRPr/>
          </a:p>
        </p:txBody>
      </p:sp>
      <p:sp>
        <p:nvSpPr>
          <p:cNvPr id="93" name="Google Shape;93;p1"/>
          <p:cNvSpPr/>
          <p:nvPr/>
        </p:nvSpPr>
        <p:spPr>
          <a:xfrm>
            <a:off x="7680960" y="1783080"/>
            <a:ext cx="3749039" cy="502920"/>
          </a:xfrm>
          <a:prstGeom prst="roundRect">
            <a:avLst>
              <a:gd fmla="val 8000" name="adj"/>
            </a:avLst>
          </a:prstGeom>
          <a:solidFill>
            <a:srgbClr val="0B121A"/>
          </a:solidFill>
          <a:ln cap="flat" cmpd="sng" w="12700">
            <a:solidFill>
              <a:srgbClr val="2A3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146300" spcFirstLastPara="1" rIns="128000" wrap="square" tIns="1097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FB0C0"/>
                </a:solidFill>
                <a:latin typeface="Consolas"/>
                <a:ea typeface="Consolas"/>
                <a:cs typeface="Consolas"/>
                <a:sym typeface="Consolas"/>
              </a:rPr>
              <a:t>a relaxing card game with puzzles</a:t>
            </a:r>
            <a:endParaRPr/>
          </a:p>
        </p:txBody>
      </p:sp>
      <p:sp>
        <p:nvSpPr>
          <p:cNvPr id="94" name="Google Shape;94;p1"/>
          <p:cNvSpPr/>
          <p:nvPr/>
        </p:nvSpPr>
        <p:spPr>
          <a:xfrm>
            <a:off x="7680960" y="2468880"/>
            <a:ext cx="3749039" cy="777240"/>
          </a:xfrm>
          <a:prstGeom prst="roundRect">
            <a:avLst>
              <a:gd fmla="val 6000" name="adj"/>
            </a:avLst>
          </a:prstGeom>
          <a:solidFill>
            <a:srgbClr val="121C2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"/>
          <p:cNvSpPr txBox="1"/>
          <p:nvPr/>
        </p:nvSpPr>
        <p:spPr>
          <a:xfrm>
            <a:off x="7845552" y="2560320"/>
            <a:ext cx="34290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Slay the Spire</a:t>
            </a:r>
            <a:endParaRPr/>
          </a:p>
        </p:txBody>
      </p:sp>
      <p:sp>
        <p:nvSpPr>
          <p:cNvPr id="96" name="Google Shape;96;p1"/>
          <p:cNvSpPr txBox="1"/>
          <p:nvPr/>
        </p:nvSpPr>
        <p:spPr>
          <a:xfrm>
            <a:off x="7845552" y="2871216"/>
            <a:ext cx="3429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8A9BB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deckbuilder, cartes, runs</a:t>
            </a:r>
            <a:endParaRPr/>
          </a:p>
        </p:txBody>
      </p:sp>
      <p:sp>
        <p:nvSpPr>
          <p:cNvPr id="97" name="Google Shape;97;p1"/>
          <p:cNvSpPr/>
          <p:nvPr/>
        </p:nvSpPr>
        <p:spPr>
          <a:xfrm>
            <a:off x="7680960" y="3337560"/>
            <a:ext cx="3749039" cy="777240"/>
          </a:xfrm>
          <a:prstGeom prst="roundRect">
            <a:avLst>
              <a:gd fmla="val 6000" name="adj"/>
            </a:avLst>
          </a:prstGeom>
          <a:solidFill>
            <a:srgbClr val="121C2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1"/>
          <p:cNvSpPr txBox="1"/>
          <p:nvPr/>
        </p:nvSpPr>
        <p:spPr>
          <a:xfrm>
            <a:off x="7845552" y="3429000"/>
            <a:ext cx="34290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Inscryption</a:t>
            </a:r>
            <a:endParaRPr/>
          </a:p>
        </p:txBody>
      </p:sp>
      <p:sp>
        <p:nvSpPr>
          <p:cNvPr id="99" name="Google Shape;99;p1"/>
          <p:cNvSpPr txBox="1"/>
          <p:nvPr/>
        </p:nvSpPr>
        <p:spPr>
          <a:xfrm>
            <a:off x="7845552" y="3739896"/>
            <a:ext cx="3429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8A9BB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cartes, horreur, puzzles</a:t>
            </a:r>
            <a:endParaRPr/>
          </a:p>
        </p:txBody>
      </p:sp>
      <p:sp>
        <p:nvSpPr>
          <p:cNvPr id="100" name="Google Shape;100;p1"/>
          <p:cNvSpPr/>
          <p:nvPr/>
        </p:nvSpPr>
        <p:spPr>
          <a:xfrm>
            <a:off x="7680960" y="4206240"/>
            <a:ext cx="3749039" cy="777240"/>
          </a:xfrm>
          <a:prstGeom prst="roundRect">
            <a:avLst>
              <a:gd fmla="val 6000" name="adj"/>
            </a:avLst>
          </a:prstGeom>
          <a:solidFill>
            <a:srgbClr val="121C2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1"/>
          <p:cNvSpPr txBox="1"/>
          <p:nvPr/>
        </p:nvSpPr>
        <p:spPr>
          <a:xfrm>
            <a:off x="7845552" y="4297679"/>
            <a:ext cx="34290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Balatro</a:t>
            </a:r>
            <a:endParaRPr/>
          </a:p>
        </p:txBody>
      </p:sp>
      <p:sp>
        <p:nvSpPr>
          <p:cNvPr id="102" name="Google Shape;102;p1"/>
          <p:cNvSpPr txBox="1"/>
          <p:nvPr/>
        </p:nvSpPr>
        <p:spPr>
          <a:xfrm>
            <a:off x="7845552" y="4608576"/>
            <a:ext cx="3429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8A9BB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poker, roguelike, simple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6F1E8"/>
        </a:solidFill>
      </p:bgPr>
    </p:bg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66C0F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2"/>
          <p:cNvSpPr txBox="1"/>
          <p:nvPr/>
        </p:nvSpPr>
        <p:spPr>
          <a:xfrm>
            <a:off x="11109960" y="6510528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5C6B7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 / 11</a:t>
            </a:r>
            <a:endParaRPr/>
          </a:p>
        </p:txBody>
      </p:sp>
      <p:sp>
        <p:nvSpPr>
          <p:cNvPr id="110" name="Google Shape;110;p2"/>
          <p:cNvSpPr txBox="1"/>
          <p:nvPr/>
        </p:nvSpPr>
        <p:spPr>
          <a:xfrm>
            <a:off x="502920" y="256032"/>
            <a:ext cx="10515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F7AA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LE SUJET</a:t>
            </a:r>
            <a:endParaRPr/>
          </a:p>
        </p:txBody>
      </p:sp>
      <p:sp>
        <p:nvSpPr>
          <p:cNvPr id="111" name="Google Shape;111;p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1B283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 qu’il fallait vraiment livrer</a:t>
            </a:r>
            <a:endParaRPr/>
          </a:p>
        </p:txBody>
      </p:sp>
      <p:sp>
        <p:nvSpPr>
          <p:cNvPr id="112" name="Google Shape;112;p2"/>
          <p:cNvSpPr/>
          <p:nvPr/>
        </p:nvSpPr>
        <p:spPr>
          <a:xfrm>
            <a:off x="502920" y="1325880"/>
            <a:ext cx="3611880" cy="2148840"/>
          </a:xfrm>
          <a:prstGeom prst="roundRect">
            <a:avLst>
              <a:gd fmla="val 6000" name="adj"/>
            </a:avLst>
          </a:prstGeom>
          <a:solidFill>
            <a:srgbClr val="0E162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2"/>
          <p:cNvSpPr txBox="1"/>
          <p:nvPr/>
        </p:nvSpPr>
        <p:spPr>
          <a:xfrm>
            <a:off x="758952" y="1581912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Base NoSQL</a:t>
            </a:r>
            <a:endParaRPr/>
          </a:p>
        </p:txBody>
      </p:sp>
      <p:sp>
        <p:nvSpPr>
          <p:cNvPr id="114" name="Google Shape;114;p2"/>
          <p:cNvSpPr txBox="1"/>
          <p:nvPr/>
        </p:nvSpPr>
        <p:spPr>
          <a:xfrm>
            <a:off x="758952" y="2039112"/>
            <a:ext cx="315468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6C0F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L’énoncé parlait Mongo ou Neo4j. On a pris Qdrant : ça colle au cas d’usage.</a:t>
            </a:r>
            <a:endParaRPr/>
          </a:p>
        </p:txBody>
      </p:sp>
      <p:sp>
        <p:nvSpPr>
          <p:cNvPr id="115" name="Google Shape;115;p2"/>
          <p:cNvSpPr/>
          <p:nvPr/>
        </p:nvSpPr>
        <p:spPr>
          <a:xfrm>
            <a:off x="4297680" y="1325880"/>
            <a:ext cx="3611880" cy="2148840"/>
          </a:xfrm>
          <a:prstGeom prst="roundRect">
            <a:avLst>
              <a:gd fmla="val 6000" name="adj"/>
            </a:avLst>
          </a:prstGeom>
          <a:solidFill>
            <a:srgbClr val="FFFCF6"/>
          </a:solidFill>
          <a:ln cap="flat" cmpd="sng" w="12700">
            <a:solidFill>
              <a:srgbClr val="E4D9C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2"/>
          <p:cNvSpPr/>
          <p:nvPr/>
        </p:nvSpPr>
        <p:spPr>
          <a:xfrm>
            <a:off x="4297680" y="1325880"/>
            <a:ext cx="82296" cy="2148840"/>
          </a:xfrm>
          <a:prstGeom prst="rect">
            <a:avLst/>
          </a:prstGeom>
          <a:solidFill>
            <a:srgbClr val="66C0F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2"/>
          <p:cNvSpPr txBox="1"/>
          <p:nvPr/>
        </p:nvSpPr>
        <p:spPr>
          <a:xfrm>
            <a:off x="4553712" y="1581912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B283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Deux sources</a:t>
            </a:r>
            <a:endParaRPr/>
          </a:p>
        </p:txBody>
      </p:sp>
      <p:sp>
        <p:nvSpPr>
          <p:cNvPr id="118" name="Google Shape;118;p2"/>
          <p:cNvSpPr txBox="1"/>
          <p:nvPr/>
        </p:nvSpPr>
        <p:spPr>
          <a:xfrm>
            <a:off x="4553712" y="2039112"/>
            <a:ext cx="315468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C6B7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Dump Kaggle (~126k) + Steam Web API. Champ ingested_at sur l’API.</a:t>
            </a:r>
            <a:endParaRPr/>
          </a:p>
        </p:txBody>
      </p:sp>
      <p:sp>
        <p:nvSpPr>
          <p:cNvPr id="119" name="Google Shape;119;p2"/>
          <p:cNvSpPr/>
          <p:nvPr/>
        </p:nvSpPr>
        <p:spPr>
          <a:xfrm>
            <a:off x="8092440" y="1325880"/>
            <a:ext cx="3611880" cy="2148840"/>
          </a:xfrm>
          <a:prstGeom prst="roundRect">
            <a:avLst>
              <a:gd fmla="val 6000" name="adj"/>
            </a:avLst>
          </a:prstGeom>
          <a:solidFill>
            <a:srgbClr val="FFFCF6"/>
          </a:solidFill>
          <a:ln cap="flat" cmpd="sng" w="12700">
            <a:solidFill>
              <a:srgbClr val="E4D9C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"/>
          <p:cNvSpPr/>
          <p:nvPr/>
        </p:nvSpPr>
        <p:spPr>
          <a:xfrm>
            <a:off x="8092440" y="1325880"/>
            <a:ext cx="82296" cy="2148840"/>
          </a:xfrm>
          <a:prstGeom prst="rect">
            <a:avLst/>
          </a:prstGeom>
          <a:solidFill>
            <a:srgbClr val="66C0F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2"/>
          <p:cNvSpPr txBox="1"/>
          <p:nvPr/>
        </p:nvSpPr>
        <p:spPr>
          <a:xfrm>
            <a:off x="8348472" y="1581912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B283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CRUD + indexes</a:t>
            </a:r>
            <a:endParaRPr/>
          </a:p>
        </p:txBody>
      </p:sp>
      <p:sp>
        <p:nvSpPr>
          <p:cNvPr id="122" name="Google Shape;122;p2"/>
          <p:cNvSpPr txBox="1"/>
          <p:nvPr/>
        </p:nvSpPr>
        <p:spPr>
          <a:xfrm>
            <a:off x="8348472" y="2039112"/>
            <a:ext cx="315468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C6B7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Insert / update / replace / delete en Python. Indexes payload côté Qdrant.</a:t>
            </a:r>
            <a:endParaRPr/>
          </a:p>
        </p:txBody>
      </p:sp>
      <p:sp>
        <p:nvSpPr>
          <p:cNvPr id="123" name="Google Shape;123;p2"/>
          <p:cNvSpPr/>
          <p:nvPr/>
        </p:nvSpPr>
        <p:spPr>
          <a:xfrm>
            <a:off x="502920" y="3657600"/>
            <a:ext cx="3611880" cy="2148840"/>
          </a:xfrm>
          <a:prstGeom prst="roundRect">
            <a:avLst>
              <a:gd fmla="val 6000" name="adj"/>
            </a:avLst>
          </a:prstGeom>
          <a:solidFill>
            <a:srgbClr val="FFFCF6"/>
          </a:solidFill>
          <a:ln cap="flat" cmpd="sng" w="12700">
            <a:solidFill>
              <a:srgbClr val="E4D9C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2"/>
          <p:cNvSpPr/>
          <p:nvPr/>
        </p:nvSpPr>
        <p:spPr>
          <a:xfrm>
            <a:off x="502920" y="3657600"/>
            <a:ext cx="82296" cy="2148840"/>
          </a:xfrm>
          <a:prstGeom prst="rect">
            <a:avLst/>
          </a:prstGeom>
          <a:solidFill>
            <a:srgbClr val="66C0F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2"/>
          <p:cNvSpPr txBox="1"/>
          <p:nvPr/>
        </p:nvSpPr>
        <p:spPr>
          <a:xfrm>
            <a:off x="758952" y="3913632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B283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Notebook</a:t>
            </a:r>
            <a:endParaRPr/>
          </a:p>
        </p:txBody>
      </p:sp>
      <p:sp>
        <p:nvSpPr>
          <p:cNvPr id="126" name="Google Shape;126;p2"/>
          <p:cNvSpPr txBox="1"/>
          <p:nvPr/>
        </p:nvSpPr>
        <p:spPr>
          <a:xfrm>
            <a:off x="758952" y="4370832"/>
            <a:ext cx="315468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C6B7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Exploration volontairement un peu brouillon. Pas un rapport lissé.</a:t>
            </a:r>
            <a:endParaRPr/>
          </a:p>
        </p:txBody>
      </p:sp>
      <p:sp>
        <p:nvSpPr>
          <p:cNvPr id="127" name="Google Shape;127;p2"/>
          <p:cNvSpPr/>
          <p:nvPr/>
        </p:nvSpPr>
        <p:spPr>
          <a:xfrm>
            <a:off x="4297680" y="3657600"/>
            <a:ext cx="3611880" cy="2148840"/>
          </a:xfrm>
          <a:prstGeom prst="roundRect">
            <a:avLst>
              <a:gd fmla="val 6000" name="adj"/>
            </a:avLst>
          </a:prstGeom>
          <a:solidFill>
            <a:srgbClr val="FFFCF6"/>
          </a:solidFill>
          <a:ln cap="flat" cmpd="sng" w="12700">
            <a:solidFill>
              <a:srgbClr val="E4D9C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2"/>
          <p:cNvSpPr/>
          <p:nvPr/>
        </p:nvSpPr>
        <p:spPr>
          <a:xfrm>
            <a:off x="4297680" y="3657600"/>
            <a:ext cx="82296" cy="2148840"/>
          </a:xfrm>
          <a:prstGeom prst="rect">
            <a:avLst/>
          </a:prstGeom>
          <a:solidFill>
            <a:srgbClr val="66C0F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2"/>
          <p:cNvSpPr txBox="1"/>
          <p:nvPr/>
        </p:nvSpPr>
        <p:spPr>
          <a:xfrm>
            <a:off x="4553712" y="3913632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B283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Webapp</a:t>
            </a:r>
            <a:endParaRPr/>
          </a:p>
        </p:txBody>
      </p:sp>
      <p:sp>
        <p:nvSpPr>
          <p:cNvPr id="130" name="Google Shape;130;p2"/>
          <p:cNvSpPr txBox="1"/>
          <p:nvPr/>
        </p:nvSpPr>
        <p:spPr>
          <a:xfrm>
            <a:off x="4553712" y="4370832"/>
            <a:ext cx="315468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C6B7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Streamlit : recherche + graphes. Scripts d’admin pour dump / restore.</a:t>
            </a:r>
            <a:endParaRPr/>
          </a:p>
        </p:txBody>
      </p:sp>
      <p:sp>
        <p:nvSpPr>
          <p:cNvPr id="131" name="Google Shape;131;p2"/>
          <p:cNvSpPr/>
          <p:nvPr/>
        </p:nvSpPr>
        <p:spPr>
          <a:xfrm>
            <a:off x="8092440" y="3657600"/>
            <a:ext cx="3611880" cy="2148840"/>
          </a:xfrm>
          <a:prstGeom prst="roundRect">
            <a:avLst>
              <a:gd fmla="val 6000" name="adj"/>
            </a:avLst>
          </a:prstGeom>
          <a:solidFill>
            <a:srgbClr val="FFFCF6"/>
          </a:solidFill>
          <a:ln cap="flat" cmpd="sng" w="12700">
            <a:solidFill>
              <a:srgbClr val="E4D9C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2"/>
          <p:cNvSpPr/>
          <p:nvPr/>
        </p:nvSpPr>
        <p:spPr>
          <a:xfrm>
            <a:off x="8092440" y="3657600"/>
            <a:ext cx="82296" cy="2148840"/>
          </a:xfrm>
          <a:prstGeom prst="rect">
            <a:avLst/>
          </a:prstGeom>
          <a:solidFill>
            <a:srgbClr val="66C0F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2"/>
          <p:cNvSpPr txBox="1"/>
          <p:nvPr/>
        </p:nvSpPr>
        <p:spPr>
          <a:xfrm>
            <a:off x="8348472" y="3913632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B283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Sécu / perf</a:t>
            </a:r>
            <a:endParaRPr/>
          </a:p>
        </p:txBody>
      </p:sp>
      <p:sp>
        <p:nvSpPr>
          <p:cNvPr id="134" name="Google Shape;134;p2"/>
          <p:cNvSpPr txBox="1"/>
          <p:nvPr/>
        </p:nvSpPr>
        <p:spPr>
          <a:xfrm>
            <a:off x="8348472" y="4370832"/>
            <a:ext cx="315468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C6B7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Clés dans .env. Vecteurs on_disk, HNSW. Qdrant en Docker.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6F1E8"/>
        </a:solidFill>
      </p:bgPr>
    </p:bg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3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66C0F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3"/>
          <p:cNvSpPr txBox="1"/>
          <p:nvPr/>
        </p:nvSpPr>
        <p:spPr>
          <a:xfrm>
            <a:off x="11109960" y="6510528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5C6B7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 / 11</a:t>
            </a:r>
            <a:endParaRPr/>
          </a:p>
        </p:txBody>
      </p:sp>
      <p:sp>
        <p:nvSpPr>
          <p:cNvPr id="142" name="Google Shape;142;p3"/>
          <p:cNvSpPr txBox="1"/>
          <p:nvPr/>
        </p:nvSpPr>
        <p:spPr>
          <a:xfrm>
            <a:off x="502920" y="256032"/>
            <a:ext cx="10515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F7AA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POURQUOI CE PROJET</a:t>
            </a:r>
            <a:endParaRPr/>
          </a:p>
        </p:txBody>
      </p:sp>
      <p:sp>
        <p:nvSpPr>
          <p:cNvPr id="143" name="Google Shape;143;p3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1B283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Le joueur n’a pas le titre</a:t>
            </a:r>
            <a:endParaRPr/>
          </a:p>
        </p:txBody>
      </p:sp>
      <p:sp>
        <p:nvSpPr>
          <p:cNvPr id="144" name="Google Shape;144;p3"/>
          <p:cNvSpPr/>
          <p:nvPr/>
        </p:nvSpPr>
        <p:spPr>
          <a:xfrm>
            <a:off x="502920" y="1280160"/>
            <a:ext cx="11155800" cy="1965900"/>
          </a:xfrm>
          <a:prstGeom prst="roundRect">
            <a:avLst>
              <a:gd fmla="val 5000" name="adj"/>
            </a:avLst>
          </a:prstGeom>
          <a:solidFill>
            <a:srgbClr val="0E1621"/>
          </a:solidFill>
          <a:ln>
            <a:noFill/>
          </a:ln>
        </p:spPr>
        <p:txBody>
          <a:bodyPr anchorCtr="0" anchor="ctr" bIns="91425" lIns="146300" spcFirstLastPara="1" rIns="128000" wrap="square" tIns="1097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« a relaxing card game with puzzles »</a:t>
            </a:r>
            <a:endParaRPr/>
          </a:p>
          <a:p>
            <a:pPr indent="0" lvl="0" marL="0" marR="0" rtl="0" algn="ctr">
              <a:spcBef>
                <a:spcPts val="14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6C0F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ou « un RPG sombre en monde ouvert »</a:t>
            </a:r>
            <a:r>
              <a:rPr lang="en-US">
                <a:solidFill>
                  <a:srgbClr val="66C0F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,</a:t>
            </a:r>
            <a:r>
              <a:rPr b="0" i="0" lang="en-US" sz="1400" u="none" cap="none" strike="noStrike">
                <a:solidFill>
                  <a:srgbClr val="66C0F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on a une envie, pas un AppID.</a:t>
            </a:r>
            <a:endParaRPr/>
          </a:p>
        </p:txBody>
      </p:sp>
      <p:sp>
        <p:nvSpPr>
          <p:cNvPr id="145" name="Google Shape;145;p3"/>
          <p:cNvSpPr/>
          <p:nvPr/>
        </p:nvSpPr>
        <p:spPr>
          <a:xfrm>
            <a:off x="502920" y="3520440"/>
            <a:ext cx="3611880" cy="2331720"/>
          </a:xfrm>
          <a:prstGeom prst="roundRect">
            <a:avLst>
              <a:gd fmla="val 6000" name="adj"/>
            </a:avLst>
          </a:prstGeom>
          <a:solidFill>
            <a:srgbClr val="FFFCF6"/>
          </a:solidFill>
          <a:ln cap="flat" cmpd="sng" w="12700">
            <a:solidFill>
              <a:srgbClr val="E4D9C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3"/>
          <p:cNvSpPr txBox="1"/>
          <p:nvPr/>
        </p:nvSpPr>
        <p:spPr>
          <a:xfrm>
            <a:off x="731520" y="370332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F7AA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126k jeux</a:t>
            </a:r>
            <a:endParaRPr/>
          </a:p>
        </p:txBody>
      </p:sp>
      <p:sp>
        <p:nvSpPr>
          <p:cNvPr id="147" name="Google Shape;147;p3"/>
          <p:cNvSpPr txBox="1"/>
          <p:nvPr/>
        </p:nvSpPr>
        <p:spPr>
          <a:xfrm>
            <a:off x="731520" y="4160520"/>
            <a:ext cx="3154680" cy="1417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1B283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Personne ne scrolle ça. Un filtre Indie ne sert à rien : une bonne partie du store est déjà Indie.</a:t>
            </a:r>
            <a:endParaRPr/>
          </a:p>
        </p:txBody>
      </p:sp>
      <p:sp>
        <p:nvSpPr>
          <p:cNvPr id="148" name="Google Shape;148;p3"/>
          <p:cNvSpPr/>
          <p:nvPr/>
        </p:nvSpPr>
        <p:spPr>
          <a:xfrm>
            <a:off x="4297680" y="3520440"/>
            <a:ext cx="3611880" cy="2331720"/>
          </a:xfrm>
          <a:prstGeom prst="roundRect">
            <a:avLst>
              <a:gd fmla="val 6000" name="adj"/>
            </a:avLst>
          </a:prstGeom>
          <a:solidFill>
            <a:srgbClr val="FFFCF6"/>
          </a:solidFill>
          <a:ln cap="flat" cmpd="sng" w="12700">
            <a:solidFill>
              <a:srgbClr val="E4D9C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3"/>
          <p:cNvSpPr txBox="1"/>
          <p:nvPr/>
        </p:nvSpPr>
        <p:spPr>
          <a:xfrm>
            <a:off x="4526280" y="370332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F7AA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Mot-clé </a:t>
            </a:r>
            <a:r>
              <a:rPr b="1" lang="en-US" sz="1600">
                <a:solidFill>
                  <a:srgbClr val="1F7AA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!=</a:t>
            </a:r>
            <a:r>
              <a:rPr b="1" i="0" lang="en-US" sz="1600" u="none" cap="none" strike="noStrike">
                <a:solidFill>
                  <a:srgbClr val="1F7AA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envie</a:t>
            </a:r>
            <a:endParaRPr/>
          </a:p>
        </p:txBody>
      </p:sp>
      <p:sp>
        <p:nvSpPr>
          <p:cNvPr id="150" name="Google Shape;150;p3"/>
          <p:cNvSpPr txBox="1"/>
          <p:nvPr/>
        </p:nvSpPr>
        <p:spPr>
          <a:xfrm>
            <a:off x="4526280" y="4160520"/>
            <a:ext cx="3154680" cy="1417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1B283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Chercher « relaxing » dans le titre rate les jeux qui le sont dans la description, pas dans le nom.</a:t>
            </a:r>
            <a:endParaRPr/>
          </a:p>
        </p:txBody>
      </p:sp>
      <p:sp>
        <p:nvSpPr>
          <p:cNvPr id="151" name="Google Shape;151;p3"/>
          <p:cNvSpPr/>
          <p:nvPr/>
        </p:nvSpPr>
        <p:spPr>
          <a:xfrm>
            <a:off x="8092440" y="3520440"/>
            <a:ext cx="3611880" cy="2331720"/>
          </a:xfrm>
          <a:prstGeom prst="roundRect">
            <a:avLst>
              <a:gd fmla="val 6000" name="adj"/>
            </a:avLst>
          </a:prstGeom>
          <a:solidFill>
            <a:srgbClr val="FFFCF6"/>
          </a:solidFill>
          <a:ln cap="flat" cmpd="sng" w="12700">
            <a:solidFill>
              <a:srgbClr val="E4D9C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3"/>
          <p:cNvSpPr txBox="1"/>
          <p:nvPr/>
        </p:nvSpPr>
        <p:spPr>
          <a:xfrm>
            <a:off x="8321040" y="370332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F7AA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Donc des vecteurs</a:t>
            </a:r>
            <a:endParaRPr/>
          </a:p>
        </p:txBody>
      </p:sp>
      <p:sp>
        <p:nvSpPr>
          <p:cNvPr id="153" name="Google Shape;153;p3"/>
          <p:cNvSpPr txBox="1"/>
          <p:nvPr/>
        </p:nvSpPr>
        <p:spPr>
          <a:xfrm>
            <a:off x="8321040" y="4160520"/>
            <a:ext cx="3154680" cy="1417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1B283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On encode le texte, on cherche les plus proches. Les filtres (prix, OS, année) viennent après.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6F1E8"/>
        </a:solidFill>
      </p:bgPr>
    </p:bg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4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66C0F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4"/>
          <p:cNvSpPr txBox="1"/>
          <p:nvPr/>
        </p:nvSpPr>
        <p:spPr>
          <a:xfrm>
            <a:off x="11109960" y="6510528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5C6B7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 / 11</a:t>
            </a:r>
            <a:endParaRPr/>
          </a:p>
        </p:txBody>
      </p:sp>
      <p:sp>
        <p:nvSpPr>
          <p:cNvPr id="161" name="Google Shape;161;p4"/>
          <p:cNvSpPr txBox="1"/>
          <p:nvPr/>
        </p:nvSpPr>
        <p:spPr>
          <a:xfrm>
            <a:off x="502920" y="256032"/>
            <a:ext cx="10515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F7AA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LES SOURCES</a:t>
            </a:r>
            <a:endParaRPr/>
          </a:p>
        </p:txBody>
      </p:sp>
      <p:sp>
        <p:nvSpPr>
          <p:cNvPr id="162" name="Google Shape;162;p4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1B283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Un dump mort, une API vivante</a:t>
            </a:r>
            <a:endParaRPr/>
          </a:p>
        </p:txBody>
      </p:sp>
      <p:sp>
        <p:nvSpPr>
          <p:cNvPr id="163" name="Google Shape;163;p4"/>
          <p:cNvSpPr/>
          <p:nvPr/>
        </p:nvSpPr>
        <p:spPr>
          <a:xfrm>
            <a:off x="502920" y="1280160"/>
            <a:ext cx="5486400" cy="4709160"/>
          </a:xfrm>
          <a:prstGeom prst="roundRect">
            <a:avLst>
              <a:gd fmla="val 5000" name="adj"/>
            </a:avLst>
          </a:prstGeom>
          <a:solidFill>
            <a:srgbClr val="FFFCF6"/>
          </a:solidFill>
          <a:ln cap="flat" cmpd="sng" w="12700">
            <a:solidFill>
              <a:srgbClr val="E4D9C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4"/>
          <p:cNvSpPr/>
          <p:nvPr/>
        </p:nvSpPr>
        <p:spPr>
          <a:xfrm>
            <a:off x="502920" y="1280160"/>
            <a:ext cx="5486400" cy="109728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4"/>
          <p:cNvSpPr txBox="1"/>
          <p:nvPr/>
        </p:nvSpPr>
        <p:spPr>
          <a:xfrm>
            <a:off x="777240" y="1600200"/>
            <a:ext cx="4937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4A01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SOURCE 1  ·  STATIQUE</a:t>
            </a:r>
            <a:endParaRPr/>
          </a:p>
        </p:txBody>
      </p:sp>
      <p:sp>
        <p:nvSpPr>
          <p:cNvPr id="166" name="Google Shape;166;p4"/>
          <p:cNvSpPr txBox="1"/>
          <p:nvPr/>
        </p:nvSpPr>
        <p:spPr>
          <a:xfrm>
            <a:off x="777240" y="1965960"/>
            <a:ext cx="49377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1B283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Dump Kaggle du store</a:t>
            </a:r>
            <a:endParaRPr/>
          </a:p>
        </p:txBody>
      </p:sp>
      <p:sp>
        <p:nvSpPr>
          <p:cNvPr id="167" name="Google Shape;167;p4"/>
          <p:cNvSpPr txBox="1"/>
          <p:nvPr/>
        </p:nvSpPr>
        <p:spPr>
          <a:xfrm>
            <a:off x="777240" y="2468880"/>
            <a:ext cx="49377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C6B7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CSV ~400 Mo. Titre, description, genres, tags, prix USD, OS, avis +/−.</a:t>
            </a:r>
            <a:endParaRPr/>
          </a:p>
        </p:txBody>
      </p:sp>
      <p:sp>
        <p:nvSpPr>
          <p:cNvPr id="168" name="Google Shape;168;p4"/>
          <p:cNvSpPr txBox="1"/>
          <p:nvPr/>
        </p:nvSpPr>
        <p:spPr>
          <a:xfrm>
            <a:off x="822960" y="3291840"/>
            <a:ext cx="20116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1B283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126k</a:t>
            </a:r>
            <a:endParaRPr/>
          </a:p>
        </p:txBody>
      </p:sp>
      <p:sp>
        <p:nvSpPr>
          <p:cNvPr id="169" name="Google Shape;169;p4"/>
          <p:cNvSpPr txBox="1"/>
          <p:nvPr/>
        </p:nvSpPr>
        <p:spPr>
          <a:xfrm>
            <a:off x="2926080" y="3401568"/>
            <a:ext cx="2743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5C6B7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lignes</a:t>
            </a:r>
            <a:endParaRPr/>
          </a:p>
        </p:txBody>
      </p:sp>
      <p:sp>
        <p:nvSpPr>
          <p:cNvPr id="170" name="Google Shape;170;p4"/>
          <p:cNvSpPr txBox="1"/>
          <p:nvPr/>
        </p:nvSpPr>
        <p:spPr>
          <a:xfrm>
            <a:off x="822960" y="4069080"/>
            <a:ext cx="20116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1B283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</a:t>
            </a:r>
            <a:endParaRPr/>
          </a:p>
        </p:txBody>
      </p:sp>
      <p:sp>
        <p:nvSpPr>
          <p:cNvPr id="171" name="Google Shape;171;p4"/>
          <p:cNvSpPr txBox="1"/>
          <p:nvPr/>
        </p:nvSpPr>
        <p:spPr>
          <a:xfrm>
            <a:off x="2926080" y="4178808"/>
            <a:ext cx="2743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5C6B7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colonnes</a:t>
            </a:r>
            <a:endParaRPr/>
          </a:p>
        </p:txBody>
      </p:sp>
      <p:sp>
        <p:nvSpPr>
          <p:cNvPr id="172" name="Google Shape;172;p4"/>
          <p:cNvSpPr txBox="1"/>
          <p:nvPr/>
        </p:nvSpPr>
        <p:spPr>
          <a:xfrm>
            <a:off x="822960" y="4846320"/>
            <a:ext cx="20116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1B283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USD</a:t>
            </a:r>
            <a:endParaRPr/>
          </a:p>
        </p:txBody>
      </p:sp>
      <p:sp>
        <p:nvSpPr>
          <p:cNvPr id="173" name="Google Shape;173;p4"/>
          <p:cNvSpPr txBox="1"/>
          <p:nvPr/>
        </p:nvSpPr>
        <p:spPr>
          <a:xfrm>
            <a:off x="2926080" y="4956048"/>
            <a:ext cx="2743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5C6B7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les prix</a:t>
            </a:r>
            <a:endParaRPr/>
          </a:p>
        </p:txBody>
      </p:sp>
      <p:sp>
        <p:nvSpPr>
          <p:cNvPr id="174" name="Google Shape;174;p4"/>
          <p:cNvSpPr/>
          <p:nvPr/>
        </p:nvSpPr>
        <p:spPr>
          <a:xfrm>
            <a:off x="6217920" y="1280160"/>
            <a:ext cx="5486400" cy="4709160"/>
          </a:xfrm>
          <a:prstGeom prst="roundRect">
            <a:avLst>
              <a:gd fmla="val 5000" name="adj"/>
            </a:avLst>
          </a:prstGeom>
          <a:solidFill>
            <a:srgbClr val="0E162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4"/>
          <p:cNvSpPr txBox="1"/>
          <p:nvPr/>
        </p:nvSpPr>
        <p:spPr>
          <a:xfrm>
            <a:off x="6492240" y="1600200"/>
            <a:ext cx="4937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6C0F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SOURCE 2  ·  UN PEU VIVANTE</a:t>
            </a:r>
            <a:endParaRPr/>
          </a:p>
        </p:txBody>
      </p:sp>
      <p:sp>
        <p:nvSpPr>
          <p:cNvPr id="176" name="Google Shape;176;p4"/>
          <p:cNvSpPr txBox="1"/>
          <p:nvPr/>
        </p:nvSpPr>
        <p:spPr>
          <a:xfrm>
            <a:off x="6492240" y="1965960"/>
            <a:ext cx="49377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Steam Web API</a:t>
            </a:r>
            <a:endParaRPr/>
          </a:p>
        </p:txBody>
      </p:sp>
      <p:sp>
        <p:nvSpPr>
          <p:cNvPr id="177" name="Google Shape;177;p4"/>
          <p:cNvSpPr txBox="1"/>
          <p:nvPr/>
        </p:nvSpPr>
        <p:spPr>
          <a:xfrm>
            <a:off x="6492240" y="2468880"/>
            <a:ext cx="493776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B8C5D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Les 150 jeux les plus reviewés seulement. Rate limit : taper les 126k aurait pris des heures.</a:t>
            </a:r>
            <a:endParaRPr/>
          </a:p>
        </p:txBody>
      </p:sp>
      <p:sp>
        <p:nvSpPr>
          <p:cNvPr id="178" name="Google Shape;178;p4"/>
          <p:cNvSpPr txBox="1"/>
          <p:nvPr/>
        </p:nvSpPr>
        <p:spPr>
          <a:xfrm>
            <a:off x="6537960" y="3520440"/>
            <a:ext cx="21945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6C0F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150</a:t>
            </a:r>
            <a:endParaRPr/>
          </a:p>
        </p:txBody>
      </p:sp>
      <p:sp>
        <p:nvSpPr>
          <p:cNvPr id="179" name="Google Shape;179;p4"/>
          <p:cNvSpPr txBox="1"/>
          <p:nvPr/>
        </p:nvSpPr>
        <p:spPr>
          <a:xfrm>
            <a:off x="8778240" y="3593592"/>
            <a:ext cx="25603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B8C5D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jeux enrichis</a:t>
            </a:r>
            <a:endParaRPr/>
          </a:p>
        </p:txBody>
      </p:sp>
      <p:sp>
        <p:nvSpPr>
          <p:cNvPr id="180" name="Google Shape;180;p4"/>
          <p:cNvSpPr txBox="1"/>
          <p:nvPr/>
        </p:nvSpPr>
        <p:spPr>
          <a:xfrm>
            <a:off x="6537960" y="4206240"/>
            <a:ext cx="21945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6C0F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news</a:t>
            </a:r>
            <a:endParaRPr/>
          </a:p>
        </p:txBody>
      </p:sp>
      <p:sp>
        <p:nvSpPr>
          <p:cNvPr id="181" name="Google Shape;181;p4"/>
          <p:cNvSpPr txBox="1"/>
          <p:nvPr/>
        </p:nvSpPr>
        <p:spPr>
          <a:xfrm>
            <a:off x="8778240" y="4279392"/>
            <a:ext cx="25603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B8C5D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dernier article</a:t>
            </a:r>
            <a:endParaRPr/>
          </a:p>
        </p:txBody>
      </p:sp>
      <p:sp>
        <p:nvSpPr>
          <p:cNvPr id="182" name="Google Shape;182;p4"/>
          <p:cNvSpPr txBox="1"/>
          <p:nvPr/>
        </p:nvSpPr>
        <p:spPr>
          <a:xfrm>
            <a:off x="6537960" y="4892040"/>
            <a:ext cx="21945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6C0F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ingested_at</a:t>
            </a:r>
            <a:endParaRPr/>
          </a:p>
        </p:txBody>
      </p:sp>
      <p:sp>
        <p:nvSpPr>
          <p:cNvPr id="183" name="Google Shape;183;p4"/>
          <p:cNvSpPr txBox="1"/>
          <p:nvPr/>
        </p:nvSpPr>
        <p:spPr>
          <a:xfrm>
            <a:off x="8778240" y="4965192"/>
            <a:ext cx="25603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B8C5D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date de l’appel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6F1E8"/>
        </a:solidFill>
      </p:bgPr>
    </p:bg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5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66C0F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5"/>
          <p:cNvSpPr txBox="1"/>
          <p:nvPr/>
        </p:nvSpPr>
        <p:spPr>
          <a:xfrm>
            <a:off x="11109960" y="6510528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5C6B7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 / 11</a:t>
            </a:r>
            <a:endParaRPr/>
          </a:p>
        </p:txBody>
      </p:sp>
      <p:sp>
        <p:nvSpPr>
          <p:cNvPr id="191" name="Google Shape;191;p5"/>
          <p:cNvSpPr txBox="1"/>
          <p:nvPr/>
        </p:nvSpPr>
        <p:spPr>
          <a:xfrm>
            <a:off x="502920" y="256032"/>
            <a:ext cx="10515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F7AA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EXPLORATION</a:t>
            </a:r>
            <a:endParaRPr/>
          </a:p>
        </p:txBody>
      </p:sp>
      <p:sp>
        <p:nvSpPr>
          <p:cNvPr id="192" name="Google Shape;192;p5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1B283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Le CSV n’était pas nickel</a:t>
            </a:r>
            <a:endParaRPr/>
          </a:p>
        </p:txBody>
      </p:sp>
      <p:sp>
        <p:nvSpPr>
          <p:cNvPr id="193" name="Google Shape;193;p5"/>
          <p:cNvSpPr/>
          <p:nvPr/>
        </p:nvSpPr>
        <p:spPr>
          <a:xfrm>
            <a:off x="502920" y="1280160"/>
            <a:ext cx="6903720" cy="1115568"/>
          </a:xfrm>
          <a:prstGeom prst="roundRect">
            <a:avLst>
              <a:gd fmla="val 5000" name="adj"/>
            </a:avLst>
          </a:prstGeom>
          <a:solidFill>
            <a:srgbClr val="FFFCF6"/>
          </a:solidFill>
          <a:ln cap="flat" cmpd="sng" w="12700">
            <a:solidFill>
              <a:srgbClr val="E4D9C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5"/>
          <p:cNvSpPr/>
          <p:nvPr/>
        </p:nvSpPr>
        <p:spPr>
          <a:xfrm>
            <a:off x="713232" y="1645919"/>
            <a:ext cx="347472" cy="347472"/>
          </a:xfrm>
          <a:prstGeom prst="ellipse">
            <a:avLst/>
          </a:prstGeom>
          <a:solidFill>
            <a:srgbClr val="0E162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5"/>
          <p:cNvSpPr txBox="1"/>
          <p:nvPr/>
        </p:nvSpPr>
        <p:spPr>
          <a:xfrm>
            <a:off x="713195" y="1737370"/>
            <a:ext cx="3474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96" name="Google Shape;196;p5"/>
          <p:cNvSpPr txBox="1"/>
          <p:nvPr/>
        </p:nvSpPr>
        <p:spPr>
          <a:xfrm>
            <a:off x="1234440" y="1444751"/>
            <a:ext cx="5943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B283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Header cassé</a:t>
            </a:r>
            <a:endParaRPr/>
          </a:p>
        </p:txBody>
      </p:sp>
      <p:sp>
        <p:nvSpPr>
          <p:cNvPr id="197" name="Google Shape;197;p5"/>
          <p:cNvSpPr txBox="1"/>
          <p:nvPr/>
        </p:nvSpPr>
        <p:spPr>
          <a:xfrm>
            <a:off x="1234440" y="1783080"/>
            <a:ext cx="5943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5C6B7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Discount et DLC count collés. Pandas décalait tout : des dates dans le nom, etc. On a perdu un moment là-dessus.</a:t>
            </a:r>
            <a:endParaRPr/>
          </a:p>
        </p:txBody>
      </p:sp>
      <p:sp>
        <p:nvSpPr>
          <p:cNvPr id="198" name="Google Shape;198;p5"/>
          <p:cNvSpPr/>
          <p:nvPr/>
        </p:nvSpPr>
        <p:spPr>
          <a:xfrm>
            <a:off x="502920" y="2514600"/>
            <a:ext cx="6903720" cy="1115568"/>
          </a:xfrm>
          <a:prstGeom prst="roundRect">
            <a:avLst>
              <a:gd fmla="val 5000" name="adj"/>
            </a:avLst>
          </a:prstGeom>
          <a:solidFill>
            <a:srgbClr val="FFFCF6"/>
          </a:solidFill>
          <a:ln cap="flat" cmpd="sng" w="12700">
            <a:solidFill>
              <a:srgbClr val="E4D9C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5"/>
          <p:cNvSpPr/>
          <p:nvPr/>
        </p:nvSpPr>
        <p:spPr>
          <a:xfrm>
            <a:off x="713232" y="2880360"/>
            <a:ext cx="347472" cy="347472"/>
          </a:xfrm>
          <a:prstGeom prst="ellipse">
            <a:avLst/>
          </a:prstGeom>
          <a:solidFill>
            <a:srgbClr val="0E162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5"/>
          <p:cNvSpPr txBox="1"/>
          <p:nvPr/>
        </p:nvSpPr>
        <p:spPr>
          <a:xfrm>
            <a:off x="713232" y="2965086"/>
            <a:ext cx="3474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01" name="Google Shape;201;p5"/>
          <p:cNvSpPr txBox="1"/>
          <p:nvPr/>
        </p:nvSpPr>
        <p:spPr>
          <a:xfrm>
            <a:off x="1234440" y="2679192"/>
            <a:ext cx="5943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B283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Colonnes mortes</a:t>
            </a:r>
            <a:endParaRPr/>
          </a:p>
        </p:txBody>
      </p:sp>
      <p:sp>
        <p:nvSpPr>
          <p:cNvPr id="202" name="Google Shape;202;p5"/>
          <p:cNvSpPr txBox="1"/>
          <p:nvPr/>
        </p:nvSpPr>
        <p:spPr>
          <a:xfrm>
            <a:off x="1234440" y="3017520"/>
            <a:ext cx="5943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5C6B7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Movies 100 % vide. Score rank quasi vide. Un jeu sans nom.</a:t>
            </a:r>
            <a:endParaRPr/>
          </a:p>
        </p:txBody>
      </p:sp>
      <p:sp>
        <p:nvSpPr>
          <p:cNvPr id="203" name="Google Shape;203;p5"/>
          <p:cNvSpPr/>
          <p:nvPr/>
        </p:nvSpPr>
        <p:spPr>
          <a:xfrm>
            <a:off x="502920" y="3749039"/>
            <a:ext cx="6903720" cy="1115568"/>
          </a:xfrm>
          <a:prstGeom prst="roundRect">
            <a:avLst>
              <a:gd fmla="val 5000" name="adj"/>
            </a:avLst>
          </a:prstGeom>
          <a:solidFill>
            <a:srgbClr val="FFFCF6"/>
          </a:solidFill>
          <a:ln cap="flat" cmpd="sng" w="12700">
            <a:solidFill>
              <a:srgbClr val="E4D9C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5"/>
          <p:cNvSpPr/>
          <p:nvPr/>
        </p:nvSpPr>
        <p:spPr>
          <a:xfrm>
            <a:off x="713232" y="4114800"/>
            <a:ext cx="347472" cy="347472"/>
          </a:xfrm>
          <a:prstGeom prst="ellipse">
            <a:avLst/>
          </a:prstGeom>
          <a:solidFill>
            <a:srgbClr val="0E162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5"/>
          <p:cNvSpPr txBox="1"/>
          <p:nvPr/>
        </p:nvSpPr>
        <p:spPr>
          <a:xfrm>
            <a:off x="713232" y="4169676"/>
            <a:ext cx="3474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206" name="Google Shape;206;p5"/>
          <p:cNvSpPr txBox="1"/>
          <p:nvPr/>
        </p:nvSpPr>
        <p:spPr>
          <a:xfrm>
            <a:off x="1234440" y="3913631"/>
            <a:ext cx="5943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B283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Inutile pour MiniLM</a:t>
            </a:r>
            <a:endParaRPr/>
          </a:p>
        </p:txBody>
      </p:sp>
      <p:sp>
        <p:nvSpPr>
          <p:cNvPr id="207" name="Google Shape;207;p5"/>
          <p:cNvSpPr txBox="1"/>
          <p:nvPr/>
        </p:nvSpPr>
        <p:spPr>
          <a:xfrm>
            <a:off x="1234440" y="4251959"/>
            <a:ext cx="5943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5C6B7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Playtests et descriptions vides </a:t>
            </a:r>
            <a:r>
              <a:rPr lang="en-US" sz="1300">
                <a:solidFill>
                  <a:srgbClr val="5C6B7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:</a:t>
            </a:r>
            <a:r>
              <a:rPr b="0" i="0" lang="en-US" sz="1300" u="none" cap="none" strike="noStrike">
                <a:solidFill>
                  <a:srgbClr val="5C6B7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embeddings pauvres. On les a droppés.</a:t>
            </a:r>
            <a:endParaRPr/>
          </a:p>
        </p:txBody>
      </p:sp>
      <p:sp>
        <p:nvSpPr>
          <p:cNvPr id="208" name="Google Shape;208;p5"/>
          <p:cNvSpPr/>
          <p:nvPr/>
        </p:nvSpPr>
        <p:spPr>
          <a:xfrm>
            <a:off x="7635240" y="1280160"/>
            <a:ext cx="4023360" cy="4709160"/>
          </a:xfrm>
          <a:prstGeom prst="roundRect">
            <a:avLst>
              <a:gd fmla="val 5000" name="adj"/>
            </a:avLst>
          </a:prstGeom>
          <a:solidFill>
            <a:srgbClr val="0E162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5"/>
          <p:cNvSpPr txBox="1"/>
          <p:nvPr/>
        </p:nvSpPr>
        <p:spPr>
          <a:xfrm>
            <a:off x="7863840" y="155448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6C0F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À LA FIN</a:t>
            </a:r>
            <a:endParaRPr/>
          </a:p>
        </p:txBody>
      </p:sp>
      <p:sp>
        <p:nvSpPr>
          <p:cNvPr id="210" name="Google Shape;210;p5"/>
          <p:cNvSpPr txBox="1"/>
          <p:nvPr/>
        </p:nvSpPr>
        <p:spPr>
          <a:xfrm>
            <a:off x="7909560" y="2011680"/>
            <a:ext cx="35661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~117k</a:t>
            </a:r>
            <a:endParaRPr/>
          </a:p>
        </p:txBody>
      </p:sp>
      <p:sp>
        <p:nvSpPr>
          <p:cNvPr id="211" name="Google Shape;211;p5"/>
          <p:cNvSpPr txBox="1"/>
          <p:nvPr/>
        </p:nvSpPr>
        <p:spPr>
          <a:xfrm>
            <a:off x="7909560" y="2450592"/>
            <a:ext cx="3566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8A9BB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jeux gardés</a:t>
            </a:r>
            <a:endParaRPr/>
          </a:p>
        </p:txBody>
      </p:sp>
      <p:sp>
        <p:nvSpPr>
          <p:cNvPr id="212" name="Google Shape;212;p5"/>
          <p:cNvSpPr txBox="1"/>
          <p:nvPr/>
        </p:nvSpPr>
        <p:spPr>
          <a:xfrm>
            <a:off x="7909560" y="2926080"/>
            <a:ext cx="35661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16 %</a:t>
            </a:r>
            <a:endParaRPr/>
          </a:p>
        </p:txBody>
      </p:sp>
      <p:sp>
        <p:nvSpPr>
          <p:cNvPr id="213" name="Google Shape;213;p5"/>
          <p:cNvSpPr txBox="1"/>
          <p:nvPr/>
        </p:nvSpPr>
        <p:spPr>
          <a:xfrm>
            <a:off x="7909560" y="3364992"/>
            <a:ext cx="3566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8A9BB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gratuits</a:t>
            </a:r>
            <a:endParaRPr/>
          </a:p>
        </p:txBody>
      </p:sp>
      <p:sp>
        <p:nvSpPr>
          <p:cNvPr id="214" name="Google Shape;214;p5"/>
          <p:cNvSpPr txBox="1"/>
          <p:nvPr/>
        </p:nvSpPr>
        <p:spPr>
          <a:xfrm>
            <a:off x="7909560" y="3840480"/>
            <a:ext cx="35661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3,59 $</a:t>
            </a:r>
            <a:endParaRPr/>
          </a:p>
        </p:txBody>
      </p:sp>
      <p:sp>
        <p:nvSpPr>
          <p:cNvPr id="215" name="Google Shape;215;p5"/>
          <p:cNvSpPr txBox="1"/>
          <p:nvPr/>
        </p:nvSpPr>
        <p:spPr>
          <a:xfrm>
            <a:off x="7909560" y="4279392"/>
            <a:ext cx="3566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8A9BB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prix médian</a:t>
            </a:r>
            <a:endParaRPr/>
          </a:p>
        </p:txBody>
      </p:sp>
      <p:sp>
        <p:nvSpPr>
          <p:cNvPr id="216" name="Google Shape;216;p5"/>
          <p:cNvSpPr txBox="1"/>
          <p:nvPr/>
        </p:nvSpPr>
        <p:spPr>
          <a:xfrm>
            <a:off x="7909560" y="4754880"/>
            <a:ext cx="35661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parquet</a:t>
            </a:r>
            <a:endParaRPr/>
          </a:p>
        </p:txBody>
      </p:sp>
      <p:sp>
        <p:nvSpPr>
          <p:cNvPr id="217" name="Google Shape;217;p5"/>
          <p:cNvSpPr txBox="1"/>
          <p:nvPr/>
        </p:nvSpPr>
        <p:spPr>
          <a:xfrm>
            <a:off x="7909560" y="5193792"/>
            <a:ext cx="3566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8A9BB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plus le CSV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6F1E8"/>
        </a:solidFill>
      </p:bgPr>
    </p:bg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6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66C0F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6"/>
          <p:cNvSpPr txBox="1"/>
          <p:nvPr/>
        </p:nvSpPr>
        <p:spPr>
          <a:xfrm>
            <a:off x="11109960" y="6510528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5C6B7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 / 11</a:t>
            </a:r>
            <a:endParaRPr/>
          </a:p>
        </p:txBody>
      </p:sp>
      <p:sp>
        <p:nvSpPr>
          <p:cNvPr id="225" name="Google Shape;225;p6"/>
          <p:cNvSpPr txBox="1"/>
          <p:nvPr/>
        </p:nvSpPr>
        <p:spPr>
          <a:xfrm>
            <a:off x="502920" y="256032"/>
            <a:ext cx="10515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F7AA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QUESTIONS MÉTIER</a:t>
            </a:r>
            <a:endParaRPr/>
          </a:p>
        </p:txBody>
      </p:sp>
      <p:sp>
        <p:nvSpPr>
          <p:cNvPr id="226" name="Google Shape;226;p6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1B283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 que le catalogue raconte</a:t>
            </a:r>
            <a:endParaRPr/>
          </a:p>
        </p:txBody>
      </p:sp>
      <p:sp>
        <p:nvSpPr>
          <p:cNvPr id="227" name="Google Shape;227;p6"/>
          <p:cNvSpPr/>
          <p:nvPr/>
        </p:nvSpPr>
        <p:spPr>
          <a:xfrm>
            <a:off x="502920" y="1280160"/>
            <a:ext cx="5532120" cy="2148840"/>
          </a:xfrm>
          <a:prstGeom prst="roundRect">
            <a:avLst>
              <a:gd fmla="val 5000" name="adj"/>
            </a:avLst>
          </a:prstGeom>
          <a:solidFill>
            <a:srgbClr val="0E162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6"/>
          <p:cNvSpPr txBox="1"/>
          <p:nvPr/>
        </p:nvSpPr>
        <p:spPr>
          <a:xfrm>
            <a:off x="777240" y="1508760"/>
            <a:ext cx="4983480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Indie / Action</a:t>
            </a:r>
            <a:b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</a:b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Casual / Adventure</a:t>
            </a:r>
            <a:endParaRPr/>
          </a:p>
        </p:txBody>
      </p:sp>
      <p:sp>
        <p:nvSpPr>
          <p:cNvPr id="229" name="Google Shape;229;p6"/>
          <p:cNvSpPr txBox="1"/>
          <p:nvPr/>
        </p:nvSpPr>
        <p:spPr>
          <a:xfrm>
            <a:off x="777240" y="2468880"/>
            <a:ext cx="49834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6C0F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Les genres dominants. Sans surprise, et trop larges pour chercher.</a:t>
            </a:r>
            <a:endParaRPr/>
          </a:p>
        </p:txBody>
      </p:sp>
      <p:sp>
        <p:nvSpPr>
          <p:cNvPr id="230" name="Google Shape;230;p6"/>
          <p:cNvSpPr/>
          <p:nvPr/>
        </p:nvSpPr>
        <p:spPr>
          <a:xfrm>
            <a:off x="6263640" y="1280160"/>
            <a:ext cx="5532120" cy="2148840"/>
          </a:xfrm>
          <a:prstGeom prst="roundRect">
            <a:avLst>
              <a:gd fmla="val 5000" name="adj"/>
            </a:avLst>
          </a:prstGeom>
          <a:solidFill>
            <a:srgbClr val="FFFCF6"/>
          </a:solidFill>
          <a:ln cap="flat" cmpd="sng" w="12700">
            <a:solidFill>
              <a:srgbClr val="E4D9C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6"/>
          <p:cNvSpPr txBox="1"/>
          <p:nvPr/>
        </p:nvSpPr>
        <p:spPr>
          <a:xfrm>
            <a:off x="6537959" y="1508760"/>
            <a:ext cx="4983480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B283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Beaucoup de</a:t>
            </a:r>
            <a:br>
              <a:rPr b="1" i="0" lang="en-US" sz="2000" u="none" cap="none" strike="noStrike">
                <a:solidFill>
                  <a:srgbClr val="1B283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</a:br>
            <a:r>
              <a:rPr b="1" i="0" lang="en-US" sz="2000" u="none" cap="none" strike="noStrike">
                <a:solidFill>
                  <a:srgbClr val="1B283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petits prix</a:t>
            </a:r>
            <a:endParaRPr/>
          </a:p>
        </p:txBody>
      </p:sp>
      <p:sp>
        <p:nvSpPr>
          <p:cNvPr id="232" name="Google Shape;232;p6"/>
          <p:cNvSpPr txBox="1"/>
          <p:nvPr/>
        </p:nvSpPr>
        <p:spPr>
          <a:xfrm>
            <a:off x="6537959" y="2468880"/>
            <a:ext cx="49834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C6B7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Masse de free-to-play et d’indés à 3–5 $. Le prix sert de filtre, pas de signal qualité.</a:t>
            </a:r>
            <a:endParaRPr/>
          </a:p>
        </p:txBody>
      </p:sp>
      <p:sp>
        <p:nvSpPr>
          <p:cNvPr id="233" name="Google Shape;233;p6"/>
          <p:cNvSpPr/>
          <p:nvPr/>
        </p:nvSpPr>
        <p:spPr>
          <a:xfrm>
            <a:off x="502920" y="3611879"/>
            <a:ext cx="5532120" cy="2148840"/>
          </a:xfrm>
          <a:prstGeom prst="roundRect">
            <a:avLst>
              <a:gd fmla="val 5000" name="adj"/>
            </a:avLst>
          </a:prstGeom>
          <a:solidFill>
            <a:srgbClr val="FFFCF6"/>
          </a:solidFill>
          <a:ln cap="flat" cmpd="sng" w="12700">
            <a:solidFill>
              <a:srgbClr val="E4D9C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6"/>
          <p:cNvSpPr txBox="1"/>
          <p:nvPr/>
        </p:nvSpPr>
        <p:spPr>
          <a:xfrm>
            <a:off x="777240" y="3840479"/>
            <a:ext cx="4983480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B283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Note </a:t>
            </a:r>
            <a:r>
              <a:rPr b="1" lang="en-US" sz="2000">
                <a:solidFill>
                  <a:srgbClr val="1B283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!= </a:t>
            </a:r>
            <a:r>
              <a:rPr b="1" i="0" lang="en-US" sz="2000" u="none" cap="none" strike="noStrike">
                <a:solidFill>
                  <a:srgbClr val="1B283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prix</a:t>
            </a:r>
            <a:endParaRPr/>
          </a:p>
        </p:txBody>
      </p:sp>
      <p:sp>
        <p:nvSpPr>
          <p:cNvPr id="235" name="Google Shape;235;p6"/>
          <p:cNvSpPr txBox="1"/>
          <p:nvPr/>
        </p:nvSpPr>
        <p:spPr>
          <a:xfrm>
            <a:off x="777240" y="4800600"/>
            <a:ext cx="49834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C6B7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Pas de lien linéaire. Le volume d’avis, lui, sert : on l’utilise pour écarter le bruit.</a:t>
            </a:r>
            <a:endParaRPr/>
          </a:p>
        </p:txBody>
      </p:sp>
      <p:sp>
        <p:nvSpPr>
          <p:cNvPr id="236" name="Google Shape;236;p6"/>
          <p:cNvSpPr/>
          <p:nvPr/>
        </p:nvSpPr>
        <p:spPr>
          <a:xfrm>
            <a:off x="6263640" y="3611879"/>
            <a:ext cx="5532120" cy="2148840"/>
          </a:xfrm>
          <a:prstGeom prst="roundRect">
            <a:avLst>
              <a:gd fmla="val 5000" name="adj"/>
            </a:avLst>
          </a:prstGeom>
          <a:solidFill>
            <a:srgbClr val="0E162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6"/>
          <p:cNvSpPr txBox="1"/>
          <p:nvPr/>
        </p:nvSpPr>
        <p:spPr>
          <a:xfrm>
            <a:off x="6537959" y="3840479"/>
            <a:ext cx="4983480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Windows partout</a:t>
            </a:r>
            <a:b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</a:b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Linux minoritaire</a:t>
            </a:r>
            <a:endParaRPr/>
          </a:p>
        </p:txBody>
      </p:sp>
      <p:sp>
        <p:nvSpPr>
          <p:cNvPr id="238" name="Google Shape;238;p6"/>
          <p:cNvSpPr txBox="1"/>
          <p:nvPr/>
        </p:nvSpPr>
        <p:spPr>
          <a:xfrm>
            <a:off x="6537959" y="4800600"/>
            <a:ext cx="49834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6C0F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Filtre OS utile. Mac / Linux, on les a indexés exprès.</a:t>
            </a:r>
            <a:endParaRPr/>
          </a:p>
        </p:txBody>
      </p:sp>
      <p:sp>
        <p:nvSpPr>
          <p:cNvPr id="239" name="Google Shape;239;p6"/>
          <p:cNvSpPr txBox="1"/>
          <p:nvPr/>
        </p:nvSpPr>
        <p:spPr>
          <a:xfrm>
            <a:off x="502920" y="598932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5C6B7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Explosion des sorties après 2014–2016. Trop de jeux : d’où la recherche, pas un énième filtre genre.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6F1E8"/>
        </a:solid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7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66C0F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7"/>
          <p:cNvSpPr txBox="1"/>
          <p:nvPr/>
        </p:nvSpPr>
        <p:spPr>
          <a:xfrm>
            <a:off x="11109960" y="6510528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5C6B7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 / 11</a:t>
            </a:r>
            <a:endParaRPr/>
          </a:p>
        </p:txBody>
      </p:sp>
      <p:sp>
        <p:nvSpPr>
          <p:cNvPr id="247" name="Google Shape;247;p7"/>
          <p:cNvSpPr txBox="1"/>
          <p:nvPr/>
        </p:nvSpPr>
        <p:spPr>
          <a:xfrm>
            <a:off x="502920" y="256032"/>
            <a:ext cx="10515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F7AA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CHOIX TECH</a:t>
            </a:r>
            <a:endParaRPr/>
          </a:p>
        </p:txBody>
      </p:sp>
      <p:sp>
        <p:nvSpPr>
          <p:cNvPr id="248" name="Google Shape;248;p7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1B283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Mongo, Neo4j, ou des vecteurs</a:t>
            </a:r>
            <a:endParaRPr/>
          </a:p>
        </p:txBody>
      </p:sp>
      <p:sp>
        <p:nvSpPr>
          <p:cNvPr id="249" name="Google Shape;249;p7"/>
          <p:cNvSpPr/>
          <p:nvPr/>
        </p:nvSpPr>
        <p:spPr>
          <a:xfrm>
            <a:off x="502920" y="1280160"/>
            <a:ext cx="3611880" cy="4709160"/>
          </a:xfrm>
          <a:prstGeom prst="roundRect">
            <a:avLst>
              <a:gd fmla="val 5000" name="adj"/>
            </a:avLst>
          </a:prstGeom>
          <a:solidFill>
            <a:srgbClr val="FFFCF6"/>
          </a:solidFill>
          <a:ln cap="flat" cmpd="sng" w="12700">
            <a:solidFill>
              <a:srgbClr val="E4D9C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7"/>
          <p:cNvSpPr txBox="1"/>
          <p:nvPr/>
        </p:nvSpPr>
        <p:spPr>
          <a:xfrm>
            <a:off x="758952" y="1508760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5C6B7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DOCUMENT</a:t>
            </a:r>
            <a:endParaRPr/>
          </a:p>
        </p:txBody>
      </p:sp>
      <p:sp>
        <p:nvSpPr>
          <p:cNvPr id="251" name="Google Shape;251;p7"/>
          <p:cNvSpPr txBox="1"/>
          <p:nvPr/>
        </p:nvSpPr>
        <p:spPr>
          <a:xfrm>
            <a:off x="758952" y="1874519"/>
            <a:ext cx="31089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1B283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MongoDB</a:t>
            </a:r>
            <a:endParaRPr/>
          </a:p>
        </p:txBody>
      </p:sp>
      <p:sp>
        <p:nvSpPr>
          <p:cNvPr id="252" name="Google Shape;252;p7"/>
          <p:cNvSpPr txBox="1"/>
          <p:nvPr/>
        </p:nvSpPr>
        <p:spPr>
          <a:xfrm>
            <a:off x="758952" y="2606040"/>
            <a:ext cx="310896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1B283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Solide pour du JSON et du CRUD.</a:t>
            </a:r>
            <a:endParaRPr/>
          </a:p>
        </p:txBody>
      </p:sp>
      <p:sp>
        <p:nvSpPr>
          <p:cNvPr id="253" name="Google Shape;253;p7"/>
          <p:cNvSpPr txBox="1"/>
          <p:nvPr/>
        </p:nvSpPr>
        <p:spPr>
          <a:xfrm>
            <a:off x="758952" y="4023360"/>
            <a:ext cx="3108960" cy="1554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5C6B7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Adapté pour du CRUD classique et requêtage similaire à une base SQL</a:t>
            </a:r>
            <a:endParaRPr/>
          </a:p>
        </p:txBody>
      </p:sp>
      <p:sp>
        <p:nvSpPr>
          <p:cNvPr id="254" name="Google Shape;254;p7"/>
          <p:cNvSpPr/>
          <p:nvPr/>
        </p:nvSpPr>
        <p:spPr>
          <a:xfrm>
            <a:off x="4297680" y="1280160"/>
            <a:ext cx="3611880" cy="4709160"/>
          </a:xfrm>
          <a:prstGeom prst="roundRect">
            <a:avLst>
              <a:gd fmla="val 5000" name="adj"/>
            </a:avLst>
          </a:prstGeom>
          <a:solidFill>
            <a:srgbClr val="FFFCF6"/>
          </a:solidFill>
          <a:ln cap="flat" cmpd="sng" w="12700">
            <a:solidFill>
              <a:srgbClr val="E4D9C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7"/>
          <p:cNvSpPr txBox="1"/>
          <p:nvPr/>
        </p:nvSpPr>
        <p:spPr>
          <a:xfrm>
            <a:off x="4553712" y="1508760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5C6B7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GRAPHE</a:t>
            </a:r>
            <a:endParaRPr/>
          </a:p>
        </p:txBody>
      </p:sp>
      <p:sp>
        <p:nvSpPr>
          <p:cNvPr id="256" name="Google Shape;256;p7"/>
          <p:cNvSpPr txBox="1"/>
          <p:nvPr/>
        </p:nvSpPr>
        <p:spPr>
          <a:xfrm>
            <a:off x="4553712" y="1874519"/>
            <a:ext cx="31089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1B283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Neo4j</a:t>
            </a:r>
            <a:endParaRPr/>
          </a:p>
        </p:txBody>
      </p:sp>
      <p:sp>
        <p:nvSpPr>
          <p:cNvPr id="257" name="Google Shape;257;p7"/>
          <p:cNvSpPr txBox="1"/>
          <p:nvPr/>
        </p:nvSpPr>
        <p:spPr>
          <a:xfrm>
            <a:off x="4553712" y="2606040"/>
            <a:ext cx="310896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1B283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Utile s’il y a des relations : joueurs, collabs, co-achats.</a:t>
            </a:r>
            <a:endParaRPr/>
          </a:p>
        </p:txBody>
      </p:sp>
      <p:sp>
        <p:nvSpPr>
          <p:cNvPr id="258" name="Google Shape;258;p7"/>
          <p:cNvSpPr txBox="1"/>
          <p:nvPr/>
        </p:nvSpPr>
        <p:spPr>
          <a:xfrm>
            <a:off x="4553712" y="4023360"/>
            <a:ext cx="3108960" cy="1554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5C6B7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La technologie est adaptée si le dataset a des concepts de relations</a:t>
            </a:r>
            <a:endParaRPr>
              <a:solidFill>
                <a:srgbClr val="5C6B7A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5C6B7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Ici, nous avons une catégorie de jeux simple avec des infos descriptives.</a:t>
            </a:r>
            <a:endParaRPr>
              <a:solidFill>
                <a:srgbClr val="5C6B7A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59" name="Google Shape;259;p7"/>
          <p:cNvSpPr/>
          <p:nvPr/>
        </p:nvSpPr>
        <p:spPr>
          <a:xfrm>
            <a:off x="8092440" y="1280160"/>
            <a:ext cx="3611880" cy="4709160"/>
          </a:xfrm>
          <a:prstGeom prst="roundRect">
            <a:avLst>
              <a:gd fmla="val 5000" name="adj"/>
            </a:avLst>
          </a:prstGeom>
          <a:solidFill>
            <a:srgbClr val="0E162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7"/>
          <p:cNvSpPr txBox="1"/>
          <p:nvPr/>
        </p:nvSpPr>
        <p:spPr>
          <a:xfrm>
            <a:off x="8348472" y="1508760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66C0F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SOLUTION RETENUE</a:t>
            </a:r>
            <a:endParaRPr/>
          </a:p>
        </p:txBody>
      </p:sp>
      <p:sp>
        <p:nvSpPr>
          <p:cNvPr id="261" name="Google Shape;261;p7"/>
          <p:cNvSpPr txBox="1"/>
          <p:nvPr/>
        </p:nvSpPr>
        <p:spPr>
          <a:xfrm>
            <a:off x="8348472" y="1874519"/>
            <a:ext cx="31089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Qdrant + Dock</a:t>
            </a:r>
            <a:r>
              <a:rPr b="1" lang="en-US" sz="2400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er (local)</a:t>
            </a:r>
            <a:endParaRPr/>
          </a:p>
        </p:txBody>
      </p:sp>
      <p:sp>
        <p:nvSpPr>
          <p:cNvPr id="262" name="Google Shape;262;p7"/>
          <p:cNvSpPr txBox="1"/>
          <p:nvPr/>
        </p:nvSpPr>
        <p:spPr>
          <a:xfrm>
            <a:off x="8348472" y="2606040"/>
            <a:ext cx="310896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66C0F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Une collection steam_games:</a:t>
            </a:r>
            <a:endParaRPr sz="1500">
              <a:solidFill>
                <a:srgbClr val="66C0F4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indent="-32385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6C0F4"/>
              </a:buClr>
              <a:buSzPts val="1500"/>
              <a:buFont typeface="Quattrocento Sans"/>
              <a:buChar char="-"/>
            </a:pPr>
            <a:r>
              <a:rPr lang="en-US" sz="1500">
                <a:solidFill>
                  <a:srgbClr val="66C0F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Des points :</a:t>
            </a:r>
            <a:endParaRPr sz="1500">
              <a:solidFill>
                <a:srgbClr val="66C0F4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indent="-32385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6C0F4"/>
              </a:buClr>
              <a:buSzPts val="1500"/>
              <a:buFont typeface="Quattrocento Sans"/>
              <a:buChar char="-"/>
            </a:pPr>
            <a:r>
              <a:rPr b="0" i="0" lang="en-US" sz="1500" u="none" cap="none" strike="noStrike">
                <a:solidFill>
                  <a:srgbClr val="66C0F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Un vecteur par jeu + </a:t>
            </a:r>
            <a:endParaRPr b="0" i="0" sz="1500" u="none" cap="none" strike="noStrike">
              <a:solidFill>
                <a:srgbClr val="66C0F4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indent="-323850" lvl="0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6C0F4"/>
              </a:buClr>
              <a:buSzPts val="1500"/>
              <a:buFont typeface="Quattrocento Sans"/>
              <a:buChar char="-"/>
            </a:pPr>
            <a:r>
              <a:rPr b="0" i="0" lang="en-US" sz="1500" u="none" cap="none" strike="noStrike">
                <a:solidFill>
                  <a:srgbClr val="66C0F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un payload (prix, genres, OS, avis).</a:t>
            </a:r>
            <a:endParaRPr/>
          </a:p>
        </p:txBody>
      </p:sp>
      <p:sp>
        <p:nvSpPr>
          <p:cNvPr id="263" name="Google Shape;263;p7"/>
          <p:cNvSpPr txBox="1"/>
          <p:nvPr/>
        </p:nvSpPr>
        <p:spPr>
          <a:xfrm>
            <a:off x="8348472" y="4023360"/>
            <a:ext cx="3108960" cy="1554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B8C5D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Les indexes payload = l’équivalent des indexes Mongo, pour filtrer sans tout rescanner.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6F1E8"/>
        </a:solidFill>
      </p:bgPr>
    </p:bg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8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66C0F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8"/>
          <p:cNvSpPr txBox="1"/>
          <p:nvPr/>
        </p:nvSpPr>
        <p:spPr>
          <a:xfrm>
            <a:off x="11109960" y="6510528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5C6B7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 / 11</a:t>
            </a:r>
            <a:endParaRPr/>
          </a:p>
        </p:txBody>
      </p:sp>
      <p:sp>
        <p:nvSpPr>
          <p:cNvPr id="271" name="Google Shape;271;p8"/>
          <p:cNvSpPr txBox="1"/>
          <p:nvPr/>
        </p:nvSpPr>
        <p:spPr>
          <a:xfrm>
            <a:off x="502920" y="256032"/>
            <a:ext cx="105156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1F7AA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PIPELINES</a:t>
            </a:r>
            <a:endParaRPr/>
          </a:p>
        </p:txBody>
      </p:sp>
      <p:sp>
        <p:nvSpPr>
          <p:cNvPr id="272" name="Google Shape;272;p8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1B283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Du CSV jusqu’à la phrase tapée</a:t>
            </a:r>
            <a:endParaRPr/>
          </a:p>
        </p:txBody>
      </p:sp>
      <p:sp>
        <p:nvSpPr>
          <p:cNvPr id="273" name="Google Shape;273;p8"/>
          <p:cNvSpPr/>
          <p:nvPr/>
        </p:nvSpPr>
        <p:spPr>
          <a:xfrm>
            <a:off x="365760" y="1371600"/>
            <a:ext cx="2194560" cy="3063240"/>
          </a:xfrm>
          <a:prstGeom prst="roundRect">
            <a:avLst>
              <a:gd fmla="val 6000" name="adj"/>
            </a:avLst>
          </a:prstGeom>
          <a:solidFill>
            <a:srgbClr val="FFFCF6"/>
          </a:solidFill>
          <a:ln cap="flat" cmpd="sng" w="12700">
            <a:solidFill>
              <a:srgbClr val="E4D9C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8"/>
          <p:cNvSpPr/>
          <p:nvPr/>
        </p:nvSpPr>
        <p:spPr>
          <a:xfrm>
            <a:off x="1188720" y="1600200"/>
            <a:ext cx="502920" cy="502920"/>
          </a:xfrm>
          <a:prstGeom prst="ellipse">
            <a:avLst/>
          </a:prstGeom>
          <a:solidFill>
            <a:srgbClr val="0E162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8"/>
          <p:cNvSpPr txBox="1"/>
          <p:nvPr/>
        </p:nvSpPr>
        <p:spPr>
          <a:xfrm>
            <a:off x="1188720" y="1693206"/>
            <a:ext cx="5028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76" name="Google Shape;276;p8"/>
          <p:cNvSpPr txBox="1"/>
          <p:nvPr/>
        </p:nvSpPr>
        <p:spPr>
          <a:xfrm>
            <a:off x="475488" y="2286000"/>
            <a:ext cx="1975104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1B2838"/>
                </a:solidFill>
                <a:latin typeface="Consolas"/>
                <a:ea typeface="Consolas"/>
                <a:cs typeface="Consolas"/>
                <a:sym typeface="Consolas"/>
              </a:rPr>
              <a:t>clean_games.py</a:t>
            </a:r>
            <a:endParaRPr/>
          </a:p>
        </p:txBody>
      </p:sp>
      <p:sp>
        <p:nvSpPr>
          <p:cNvPr id="277" name="Google Shape;277;p8"/>
          <p:cNvSpPr txBox="1"/>
          <p:nvPr/>
        </p:nvSpPr>
        <p:spPr>
          <a:xfrm>
            <a:off x="475488" y="3017520"/>
            <a:ext cx="1975104" cy="118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5C6B7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CSV </a:t>
            </a:r>
            <a:r>
              <a:rPr lang="en-US" sz="1300">
                <a:solidFill>
                  <a:srgbClr val="5C6B7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: DF+</a:t>
            </a:r>
            <a:r>
              <a:rPr b="0" i="0" lang="en-US" sz="1300" u="none" cap="none" strike="noStrike">
                <a:solidFill>
                  <a:srgbClr val="5C6B7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parquet</a:t>
            </a:r>
            <a:br>
              <a:rPr b="0" i="0" lang="en-US" sz="1300" u="none" cap="none" strike="noStrike">
                <a:solidFill>
                  <a:srgbClr val="5C6B7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</a:br>
            <a:r>
              <a:rPr b="0" i="0" lang="en-US" sz="1300" u="none" cap="none" strike="noStrike">
                <a:solidFill>
                  <a:srgbClr val="5C6B7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texte, prix, année, listes</a:t>
            </a:r>
            <a:endParaRPr/>
          </a:p>
        </p:txBody>
      </p:sp>
      <p:sp>
        <p:nvSpPr>
          <p:cNvPr id="278" name="Google Shape;278;p8"/>
          <p:cNvSpPr txBox="1"/>
          <p:nvPr/>
        </p:nvSpPr>
        <p:spPr>
          <a:xfrm>
            <a:off x="2395728" y="2606040"/>
            <a:ext cx="3200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9" name="Google Shape;279;p8"/>
          <p:cNvSpPr/>
          <p:nvPr/>
        </p:nvSpPr>
        <p:spPr>
          <a:xfrm>
            <a:off x="2724912" y="1371600"/>
            <a:ext cx="2194500" cy="3063300"/>
          </a:xfrm>
          <a:prstGeom prst="roundRect">
            <a:avLst>
              <a:gd fmla="val 6000" name="adj"/>
            </a:avLst>
          </a:prstGeom>
          <a:solidFill>
            <a:srgbClr val="FFFCF6"/>
          </a:solidFill>
          <a:ln cap="flat" cmpd="sng" w="12700">
            <a:solidFill>
              <a:srgbClr val="E4D9C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8"/>
          <p:cNvSpPr/>
          <p:nvPr/>
        </p:nvSpPr>
        <p:spPr>
          <a:xfrm>
            <a:off x="3547872" y="1600200"/>
            <a:ext cx="502920" cy="502920"/>
          </a:xfrm>
          <a:prstGeom prst="ellipse">
            <a:avLst/>
          </a:prstGeom>
          <a:solidFill>
            <a:srgbClr val="0E162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8"/>
          <p:cNvSpPr txBox="1"/>
          <p:nvPr/>
        </p:nvSpPr>
        <p:spPr>
          <a:xfrm>
            <a:off x="3547872" y="1707705"/>
            <a:ext cx="5028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82" name="Google Shape;282;p8"/>
          <p:cNvSpPr txBox="1"/>
          <p:nvPr/>
        </p:nvSpPr>
        <p:spPr>
          <a:xfrm>
            <a:off x="2834640" y="2286000"/>
            <a:ext cx="1975104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1B2838"/>
                </a:solidFill>
                <a:latin typeface="Consolas"/>
                <a:ea typeface="Consolas"/>
                <a:cs typeface="Consolas"/>
                <a:sym typeface="Consolas"/>
              </a:rPr>
              <a:t>fetch_steam_api.py</a:t>
            </a:r>
            <a:endParaRPr/>
          </a:p>
        </p:txBody>
      </p:sp>
      <p:sp>
        <p:nvSpPr>
          <p:cNvPr id="283" name="Google Shape;283;p8"/>
          <p:cNvSpPr txBox="1"/>
          <p:nvPr/>
        </p:nvSpPr>
        <p:spPr>
          <a:xfrm>
            <a:off x="2834640" y="3017520"/>
            <a:ext cx="1975104" cy="118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5C6B7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news, joueurs</a:t>
            </a:r>
            <a:br>
              <a:rPr b="0" i="0" lang="en-US" sz="1300" u="none" cap="none" strike="noStrike">
                <a:solidFill>
                  <a:srgbClr val="5C6B7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</a:br>
            <a:r>
              <a:rPr b="0" i="0" lang="en-US" sz="1300" u="none" cap="none" strike="noStrike">
                <a:solidFill>
                  <a:srgbClr val="5C6B7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ingested_at </a:t>
            </a:r>
            <a:r>
              <a:rPr lang="en-US" sz="1300">
                <a:solidFill>
                  <a:srgbClr val="5C6B7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:</a:t>
            </a:r>
            <a:r>
              <a:rPr b="0" i="0" lang="en-US" sz="1300" u="none" cap="none" strike="noStrike">
                <a:solidFill>
                  <a:srgbClr val="5C6B7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jsonl</a:t>
            </a:r>
            <a:endParaRPr/>
          </a:p>
        </p:txBody>
      </p:sp>
      <p:sp>
        <p:nvSpPr>
          <p:cNvPr id="284" name="Google Shape;284;p8"/>
          <p:cNvSpPr/>
          <p:nvPr/>
        </p:nvSpPr>
        <p:spPr>
          <a:xfrm>
            <a:off x="8074212" y="3703438"/>
            <a:ext cx="502800" cy="502800"/>
          </a:xfrm>
          <a:prstGeom prst="ellipse">
            <a:avLst/>
          </a:prstGeom>
          <a:solidFill>
            <a:srgbClr val="0E162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8"/>
          <p:cNvSpPr txBox="1"/>
          <p:nvPr/>
        </p:nvSpPr>
        <p:spPr>
          <a:xfrm>
            <a:off x="8074200" y="3911525"/>
            <a:ext cx="4767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286" name="Google Shape;286;p8"/>
          <p:cNvSpPr txBox="1"/>
          <p:nvPr/>
        </p:nvSpPr>
        <p:spPr>
          <a:xfrm>
            <a:off x="6921967" y="5285433"/>
            <a:ext cx="1975200" cy="118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5C6B7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384 dimensions</a:t>
            </a:r>
            <a:br>
              <a:rPr b="0" i="0" lang="en-US" sz="1300" u="none" cap="none" strike="noStrike">
                <a:solidFill>
                  <a:srgbClr val="5C6B7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</a:br>
            <a:r>
              <a:rPr b="0" i="0" lang="en-US" sz="1300" u="none" cap="none" strike="noStrike">
                <a:solidFill>
                  <a:srgbClr val="5C6B7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cosine, anglais</a:t>
            </a:r>
            <a:endParaRPr/>
          </a:p>
        </p:txBody>
      </p:sp>
      <p:sp>
        <p:nvSpPr>
          <p:cNvPr id="287" name="Google Shape;287;p8"/>
          <p:cNvSpPr/>
          <p:nvPr/>
        </p:nvSpPr>
        <p:spPr>
          <a:xfrm>
            <a:off x="5093200" y="1367025"/>
            <a:ext cx="4565100" cy="3063300"/>
          </a:xfrm>
          <a:prstGeom prst="roundRect">
            <a:avLst>
              <a:gd fmla="val 6000" name="adj"/>
            </a:avLst>
          </a:prstGeom>
          <a:solidFill>
            <a:srgbClr val="FFFCF6"/>
          </a:solidFill>
          <a:ln cap="flat" cmpd="sng" w="12700">
            <a:solidFill>
              <a:srgbClr val="E4D9C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8"/>
          <p:cNvSpPr/>
          <p:nvPr/>
        </p:nvSpPr>
        <p:spPr>
          <a:xfrm>
            <a:off x="6064988" y="1662758"/>
            <a:ext cx="502800" cy="502800"/>
          </a:xfrm>
          <a:prstGeom prst="ellipse">
            <a:avLst/>
          </a:prstGeom>
          <a:solidFill>
            <a:srgbClr val="0E162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8"/>
          <p:cNvSpPr txBox="1"/>
          <p:nvPr/>
        </p:nvSpPr>
        <p:spPr>
          <a:xfrm>
            <a:off x="6075454" y="1762551"/>
            <a:ext cx="5028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290" name="Google Shape;290;p8"/>
          <p:cNvSpPr txBox="1"/>
          <p:nvPr/>
        </p:nvSpPr>
        <p:spPr>
          <a:xfrm>
            <a:off x="5265857" y="2298850"/>
            <a:ext cx="19752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1B2838"/>
                </a:solidFill>
                <a:latin typeface="Consolas"/>
                <a:ea typeface="Consolas"/>
                <a:cs typeface="Consolas"/>
                <a:sym typeface="Consolas"/>
              </a:rPr>
              <a:t>ingest_qdrant.py</a:t>
            </a:r>
            <a:endParaRPr/>
          </a:p>
        </p:txBody>
      </p:sp>
      <p:sp>
        <p:nvSpPr>
          <p:cNvPr id="291" name="Google Shape;291;p8"/>
          <p:cNvSpPr txBox="1"/>
          <p:nvPr/>
        </p:nvSpPr>
        <p:spPr>
          <a:xfrm>
            <a:off x="5328844" y="3057871"/>
            <a:ext cx="1975200" cy="118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5C6B7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upsert, id = AppID</a:t>
            </a:r>
            <a:br>
              <a:rPr b="0" i="0" lang="en-US" sz="1300" u="none" cap="none" strike="noStrike">
                <a:solidFill>
                  <a:srgbClr val="5C6B7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</a:br>
            <a:r>
              <a:rPr b="0" i="0" lang="en-US" sz="1300" u="none" cap="none" strike="noStrike">
                <a:solidFill>
                  <a:srgbClr val="5C6B7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HNSW,</a:t>
            </a:r>
            <a:r>
              <a:rPr lang="en-US" sz="1300">
                <a:solidFill>
                  <a:srgbClr val="5C6B7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methode et indexation</a:t>
            </a:r>
            <a:endParaRPr/>
          </a:p>
        </p:txBody>
      </p:sp>
      <p:sp>
        <p:nvSpPr>
          <p:cNvPr id="292" name="Google Shape;292;p8"/>
          <p:cNvSpPr/>
          <p:nvPr/>
        </p:nvSpPr>
        <p:spPr>
          <a:xfrm>
            <a:off x="9802368" y="1371600"/>
            <a:ext cx="2194560" cy="3063240"/>
          </a:xfrm>
          <a:prstGeom prst="roundRect">
            <a:avLst>
              <a:gd fmla="val 6000" name="adj"/>
            </a:avLst>
          </a:prstGeom>
          <a:solidFill>
            <a:srgbClr val="0E162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8"/>
          <p:cNvSpPr/>
          <p:nvPr/>
        </p:nvSpPr>
        <p:spPr>
          <a:xfrm>
            <a:off x="10625328" y="1600200"/>
            <a:ext cx="502920" cy="502920"/>
          </a:xfrm>
          <a:prstGeom prst="ellipse">
            <a:avLst/>
          </a:prstGeom>
          <a:solidFill>
            <a:srgbClr val="66C0F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8"/>
          <p:cNvSpPr txBox="1"/>
          <p:nvPr/>
        </p:nvSpPr>
        <p:spPr>
          <a:xfrm>
            <a:off x="10625328" y="1664208"/>
            <a:ext cx="5029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0E162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295" name="Google Shape;295;p8"/>
          <p:cNvSpPr txBox="1"/>
          <p:nvPr/>
        </p:nvSpPr>
        <p:spPr>
          <a:xfrm>
            <a:off x="9912096" y="2286000"/>
            <a:ext cx="1975104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Streamlit</a:t>
            </a:r>
            <a:endParaRPr/>
          </a:p>
        </p:txBody>
      </p:sp>
      <p:sp>
        <p:nvSpPr>
          <p:cNvPr id="296" name="Google Shape;296;p8"/>
          <p:cNvSpPr txBox="1"/>
          <p:nvPr/>
        </p:nvSpPr>
        <p:spPr>
          <a:xfrm>
            <a:off x="9912096" y="3090015"/>
            <a:ext cx="1975200" cy="118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B8C5D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Front</a:t>
            </a:r>
            <a:endParaRPr sz="1300">
              <a:solidFill>
                <a:srgbClr val="B8C5D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B8C5D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Logique de </a:t>
            </a:r>
            <a:r>
              <a:rPr lang="en-US" sz="1300">
                <a:solidFill>
                  <a:srgbClr val="B8C5D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requêtage</a:t>
            </a:r>
            <a:br>
              <a:rPr b="0" i="0" lang="en-US" sz="1300" u="none" cap="none" strike="noStrike">
                <a:solidFill>
                  <a:srgbClr val="B8C5D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</a:br>
            <a:r>
              <a:rPr b="0" i="0" lang="en-US" sz="1300" u="none" cap="none" strike="noStrike">
                <a:solidFill>
                  <a:srgbClr val="B8C5D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 filtres payload</a:t>
            </a:r>
            <a:endParaRPr/>
          </a:p>
        </p:txBody>
      </p:sp>
      <p:sp>
        <p:nvSpPr>
          <p:cNvPr id="297" name="Google Shape;297;p8"/>
          <p:cNvSpPr/>
          <p:nvPr/>
        </p:nvSpPr>
        <p:spPr>
          <a:xfrm>
            <a:off x="502920" y="4709160"/>
            <a:ext cx="11155680" cy="1280160"/>
          </a:xfrm>
          <a:prstGeom prst="roundRect">
            <a:avLst>
              <a:gd fmla="val 5000" name="adj"/>
            </a:avLst>
          </a:prstGeom>
          <a:solidFill>
            <a:srgbClr val="FFFCF6"/>
          </a:solidFill>
          <a:ln cap="flat" cmpd="sng" w="12700">
            <a:solidFill>
              <a:srgbClr val="E4D9C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8"/>
          <p:cNvSpPr txBox="1"/>
          <p:nvPr/>
        </p:nvSpPr>
        <p:spPr>
          <a:xfrm>
            <a:off x="762741" y="4937760"/>
            <a:ext cx="10607100" cy="86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1B283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À la requête : la phrase passe dans MiniLM, Qdrant renvoie les plus proches, les filtres (prix, Linux, année, genres, avis) passent par les indexes.</a:t>
            </a:r>
            <a:br>
              <a:rPr b="0" i="0" lang="en-US" sz="1400" u="none" cap="none" strike="noStrike">
                <a:solidFill>
                  <a:srgbClr val="1B283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</a:br>
            <a:r>
              <a:rPr b="0" i="0" lang="en-US" sz="1400" u="none" cap="none" strike="noStrike">
                <a:solidFill>
                  <a:srgbClr val="1B283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Le full ingest des 117k jeux dans le data</a:t>
            </a:r>
            <a:r>
              <a:rPr lang="en-US">
                <a:solidFill>
                  <a:srgbClr val="1B283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set prend du temps au niveau </a:t>
            </a:r>
            <a:r>
              <a:rPr b="0" i="0" lang="en-US" sz="1400" u="none" cap="none" strike="noStrike">
                <a:solidFill>
                  <a:srgbClr val="1B283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CPU. </a:t>
            </a:r>
            <a:r>
              <a:rPr lang="en-US">
                <a:solidFill>
                  <a:srgbClr val="1B283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Pour la démo, nous avons limité</a:t>
            </a:r>
            <a:r>
              <a:rPr b="0" i="0" lang="en-US" sz="1400" u="none" cap="none" strike="noStrike">
                <a:solidFill>
                  <a:srgbClr val="1B283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</a:t>
            </a:r>
            <a:r>
              <a:rPr lang="en-US">
                <a:solidFill>
                  <a:srgbClr val="1B283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à </a:t>
            </a:r>
            <a:r>
              <a:rPr b="0" i="0" lang="en-US" sz="1400" u="none" cap="none" strike="noStrike">
                <a:solidFill>
                  <a:srgbClr val="1B283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200.jeux.</a:t>
            </a:r>
            <a:endParaRPr/>
          </a:p>
        </p:txBody>
      </p:sp>
      <p:cxnSp>
        <p:nvCxnSpPr>
          <p:cNvPr id="299" name="Google Shape;299;p8"/>
          <p:cNvCxnSpPr/>
          <p:nvPr/>
        </p:nvCxnSpPr>
        <p:spPr>
          <a:xfrm flipH="1" rot="10800000">
            <a:off x="2395720" y="2810833"/>
            <a:ext cx="434700" cy="54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8"/>
          <p:cNvCxnSpPr/>
          <p:nvPr/>
        </p:nvCxnSpPr>
        <p:spPr>
          <a:xfrm>
            <a:off x="4746295" y="2785933"/>
            <a:ext cx="680100" cy="60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301" name="Google Shape;301;p8"/>
          <p:cNvSpPr txBox="1"/>
          <p:nvPr/>
        </p:nvSpPr>
        <p:spPr>
          <a:xfrm>
            <a:off x="7337992" y="2317731"/>
            <a:ext cx="19752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1B2838"/>
                </a:solidFill>
                <a:latin typeface="Consolas"/>
                <a:ea typeface="Consolas"/>
                <a:cs typeface="Consolas"/>
                <a:sym typeface="Consolas"/>
              </a:rPr>
              <a:t>all-MiniLM-L6-v2</a:t>
            </a:r>
            <a:endParaRPr b="1" i="0" sz="1300" u="none" cap="none" strike="noStrike">
              <a:solidFill>
                <a:srgbClr val="1B2838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1B2838"/>
                </a:solidFill>
                <a:latin typeface="Consolas"/>
                <a:ea typeface="Consolas"/>
                <a:cs typeface="Consolas"/>
                <a:sym typeface="Consolas"/>
              </a:rPr>
              <a:t>(Embedding)</a:t>
            </a:r>
            <a:endParaRPr b="1" sz="1300">
              <a:solidFill>
                <a:srgbClr val="1B2838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2" name="Google Shape;302;p8"/>
          <p:cNvSpPr txBox="1"/>
          <p:nvPr/>
        </p:nvSpPr>
        <p:spPr>
          <a:xfrm>
            <a:off x="7382920" y="3072370"/>
            <a:ext cx="1975200" cy="118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5C6B7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   Transformation texte en        vecteurs</a:t>
            </a:r>
            <a:endParaRPr sz="1300">
              <a:solidFill>
                <a:srgbClr val="5C6B7A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03" name="Google Shape;303;p8"/>
          <p:cNvSpPr/>
          <p:nvPr/>
        </p:nvSpPr>
        <p:spPr>
          <a:xfrm>
            <a:off x="8074189" y="1674149"/>
            <a:ext cx="502800" cy="502800"/>
          </a:xfrm>
          <a:prstGeom prst="ellipse">
            <a:avLst/>
          </a:prstGeom>
          <a:solidFill>
            <a:srgbClr val="0E162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8"/>
          <p:cNvSpPr txBox="1"/>
          <p:nvPr/>
        </p:nvSpPr>
        <p:spPr>
          <a:xfrm>
            <a:off x="8061147" y="1791551"/>
            <a:ext cx="5028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3.1</a:t>
            </a:r>
            <a:endParaRPr/>
          </a:p>
        </p:txBody>
      </p:sp>
      <p:cxnSp>
        <p:nvCxnSpPr>
          <p:cNvPr id="305" name="Google Shape;305;p8"/>
          <p:cNvCxnSpPr/>
          <p:nvPr/>
        </p:nvCxnSpPr>
        <p:spPr>
          <a:xfrm>
            <a:off x="9313195" y="2840783"/>
            <a:ext cx="680100" cy="6000"/>
          </a:xfrm>
          <a:prstGeom prst="straightConnector1">
            <a:avLst/>
          </a:prstGeom>
          <a:noFill/>
          <a:ln cap="flat" cmpd="sng" w="9525">
            <a:solidFill>
              <a:srgbClr val="1F7AA8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6F1E8"/>
        </a:solidFill>
      </p:bgPr>
    </p:bg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9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66C0F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9"/>
          <p:cNvSpPr txBox="1"/>
          <p:nvPr/>
        </p:nvSpPr>
        <p:spPr>
          <a:xfrm>
            <a:off x="11109960" y="6510528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5C6B7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 / 11</a:t>
            </a:r>
            <a:endParaRPr/>
          </a:p>
        </p:txBody>
      </p:sp>
      <p:sp>
        <p:nvSpPr>
          <p:cNvPr id="313" name="Google Shape;313;p9"/>
          <p:cNvSpPr txBox="1"/>
          <p:nvPr/>
        </p:nvSpPr>
        <p:spPr>
          <a:xfrm>
            <a:off x="502920" y="256032"/>
            <a:ext cx="10515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F7AA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AUTOUR DE LA RECHERCHE</a:t>
            </a:r>
            <a:endParaRPr/>
          </a:p>
        </p:txBody>
      </p:sp>
      <p:sp>
        <p:nvSpPr>
          <p:cNvPr id="314" name="Google Shape;314;p9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1B283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CRUD, snapshots, clés</a:t>
            </a:r>
            <a:endParaRPr/>
          </a:p>
        </p:txBody>
      </p:sp>
      <p:sp>
        <p:nvSpPr>
          <p:cNvPr id="315" name="Google Shape;315;p9"/>
          <p:cNvSpPr/>
          <p:nvPr/>
        </p:nvSpPr>
        <p:spPr>
          <a:xfrm>
            <a:off x="502920" y="1280160"/>
            <a:ext cx="6858000" cy="4709160"/>
          </a:xfrm>
          <a:prstGeom prst="roundRect">
            <a:avLst>
              <a:gd fmla="val 5000" name="adj"/>
            </a:avLst>
          </a:prstGeom>
          <a:solidFill>
            <a:srgbClr val="FFFCF6"/>
          </a:solidFill>
          <a:ln cap="flat" cmpd="sng" w="12700">
            <a:solidFill>
              <a:srgbClr val="E4D9C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9"/>
          <p:cNvSpPr txBox="1"/>
          <p:nvPr/>
        </p:nvSpPr>
        <p:spPr>
          <a:xfrm>
            <a:off x="777240" y="1463040"/>
            <a:ext cx="6400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F7AA8"/>
                </a:solidFill>
                <a:latin typeface="Consolas"/>
                <a:ea typeface="Consolas"/>
                <a:cs typeface="Consolas"/>
                <a:sym typeface="Consolas"/>
              </a:rPr>
              <a:t>scripts/crud_games.py</a:t>
            </a:r>
            <a:endParaRPr/>
          </a:p>
        </p:txBody>
      </p:sp>
      <p:sp>
        <p:nvSpPr>
          <p:cNvPr id="317" name="Google Shape;317;p9"/>
          <p:cNvSpPr txBox="1"/>
          <p:nvPr/>
        </p:nvSpPr>
        <p:spPr>
          <a:xfrm>
            <a:off x="777240" y="1783080"/>
            <a:ext cx="6400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B283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id = AppID Steam</a:t>
            </a:r>
            <a:endParaRPr/>
          </a:p>
        </p:txBody>
      </p:sp>
      <p:sp>
        <p:nvSpPr>
          <p:cNvPr id="318" name="Google Shape;318;p9"/>
          <p:cNvSpPr/>
          <p:nvPr/>
        </p:nvSpPr>
        <p:spPr>
          <a:xfrm>
            <a:off x="777240" y="2331720"/>
            <a:ext cx="1554480" cy="475488"/>
          </a:xfrm>
          <a:prstGeom prst="roundRect">
            <a:avLst>
              <a:gd fmla="val 15000" name="adj"/>
            </a:avLst>
          </a:prstGeom>
          <a:solidFill>
            <a:srgbClr val="0E1621"/>
          </a:solidFill>
          <a:ln>
            <a:noFill/>
          </a:ln>
        </p:spPr>
        <p:txBody>
          <a:bodyPr anchorCtr="0" anchor="ctr" bIns="91425" lIns="146300" spcFirstLastPara="1" rIns="128000" wrap="square" tIns="1097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6C0F4"/>
                </a:solidFill>
                <a:latin typeface="Consolas"/>
                <a:ea typeface="Consolas"/>
                <a:cs typeface="Consolas"/>
                <a:sym typeface="Consolas"/>
              </a:rPr>
              <a:t>get</a:t>
            </a:r>
            <a:endParaRPr/>
          </a:p>
        </p:txBody>
      </p:sp>
      <p:sp>
        <p:nvSpPr>
          <p:cNvPr id="319" name="Google Shape;319;p9"/>
          <p:cNvSpPr txBox="1"/>
          <p:nvPr/>
        </p:nvSpPr>
        <p:spPr>
          <a:xfrm>
            <a:off x="2514600" y="2404872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1B283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lire un point</a:t>
            </a:r>
            <a:endParaRPr/>
          </a:p>
        </p:txBody>
      </p:sp>
      <p:sp>
        <p:nvSpPr>
          <p:cNvPr id="320" name="Google Shape;320;p9"/>
          <p:cNvSpPr/>
          <p:nvPr/>
        </p:nvSpPr>
        <p:spPr>
          <a:xfrm>
            <a:off x="777240" y="2971800"/>
            <a:ext cx="1554480" cy="475488"/>
          </a:xfrm>
          <a:prstGeom prst="roundRect">
            <a:avLst>
              <a:gd fmla="val 15000" name="adj"/>
            </a:avLst>
          </a:prstGeom>
          <a:solidFill>
            <a:srgbClr val="0E1621"/>
          </a:solidFill>
          <a:ln>
            <a:noFill/>
          </a:ln>
        </p:spPr>
        <p:txBody>
          <a:bodyPr anchorCtr="0" anchor="ctr" bIns="91425" lIns="146300" spcFirstLastPara="1" rIns="128000" wrap="square" tIns="1097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6C0F4"/>
                </a:solidFill>
                <a:latin typeface="Consolas"/>
                <a:ea typeface="Consolas"/>
                <a:cs typeface="Consolas"/>
                <a:sym typeface="Consolas"/>
              </a:rPr>
              <a:t>insert</a:t>
            </a:r>
            <a:endParaRPr/>
          </a:p>
        </p:txBody>
      </p:sp>
      <p:sp>
        <p:nvSpPr>
          <p:cNvPr id="321" name="Google Shape;321;p9"/>
          <p:cNvSpPr txBox="1"/>
          <p:nvPr/>
        </p:nvSpPr>
        <p:spPr>
          <a:xfrm>
            <a:off x="2514600" y="3044952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1B283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nouveau jeu + embedding</a:t>
            </a:r>
            <a:endParaRPr/>
          </a:p>
        </p:txBody>
      </p:sp>
      <p:sp>
        <p:nvSpPr>
          <p:cNvPr id="322" name="Google Shape;322;p9"/>
          <p:cNvSpPr/>
          <p:nvPr/>
        </p:nvSpPr>
        <p:spPr>
          <a:xfrm>
            <a:off x="777240" y="3611879"/>
            <a:ext cx="1554480" cy="475488"/>
          </a:xfrm>
          <a:prstGeom prst="roundRect">
            <a:avLst>
              <a:gd fmla="val 15000" name="adj"/>
            </a:avLst>
          </a:prstGeom>
          <a:solidFill>
            <a:srgbClr val="0E1621"/>
          </a:solidFill>
          <a:ln>
            <a:noFill/>
          </a:ln>
        </p:spPr>
        <p:txBody>
          <a:bodyPr anchorCtr="0" anchor="ctr" bIns="91425" lIns="146300" spcFirstLastPara="1" rIns="128000" wrap="square" tIns="1097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6C0F4"/>
                </a:solidFill>
                <a:latin typeface="Consolas"/>
                <a:ea typeface="Consolas"/>
                <a:cs typeface="Consolas"/>
                <a:sym typeface="Consolas"/>
              </a:rPr>
              <a:t>update</a:t>
            </a:r>
            <a:endParaRPr/>
          </a:p>
        </p:txBody>
      </p:sp>
      <p:sp>
        <p:nvSpPr>
          <p:cNvPr id="323" name="Google Shape;323;p9"/>
          <p:cNvSpPr txBox="1"/>
          <p:nvPr/>
        </p:nvSpPr>
        <p:spPr>
          <a:xfrm>
            <a:off x="2514600" y="3685031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1B283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payload seulement </a:t>
            </a:r>
            <a:r>
              <a:rPr lang="en-US" sz="1500">
                <a:solidFill>
                  <a:srgbClr val="1B283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:</a:t>
            </a:r>
            <a:r>
              <a:rPr b="0" i="0" lang="en-US" sz="1500" u="none" cap="none" strike="noStrike">
                <a:solidFill>
                  <a:srgbClr val="1B283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le vecteur ne bouge pas</a:t>
            </a:r>
            <a:endParaRPr/>
          </a:p>
        </p:txBody>
      </p:sp>
      <p:sp>
        <p:nvSpPr>
          <p:cNvPr id="324" name="Google Shape;324;p9"/>
          <p:cNvSpPr/>
          <p:nvPr/>
        </p:nvSpPr>
        <p:spPr>
          <a:xfrm>
            <a:off x="777240" y="4251959"/>
            <a:ext cx="1554480" cy="475488"/>
          </a:xfrm>
          <a:prstGeom prst="roundRect">
            <a:avLst>
              <a:gd fmla="val 15000" name="adj"/>
            </a:avLst>
          </a:prstGeom>
          <a:solidFill>
            <a:srgbClr val="0E1621"/>
          </a:solidFill>
          <a:ln>
            <a:noFill/>
          </a:ln>
        </p:spPr>
        <p:txBody>
          <a:bodyPr anchorCtr="0" anchor="ctr" bIns="91425" lIns="146300" spcFirstLastPara="1" rIns="128000" wrap="square" tIns="1097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6C0F4"/>
                </a:solidFill>
                <a:latin typeface="Consolas"/>
                <a:ea typeface="Consolas"/>
                <a:cs typeface="Consolas"/>
                <a:sym typeface="Consolas"/>
              </a:rPr>
              <a:t>replace</a:t>
            </a:r>
            <a:endParaRPr/>
          </a:p>
        </p:txBody>
      </p:sp>
      <p:sp>
        <p:nvSpPr>
          <p:cNvPr id="325" name="Google Shape;325;p9"/>
          <p:cNvSpPr txBox="1"/>
          <p:nvPr/>
        </p:nvSpPr>
        <p:spPr>
          <a:xfrm>
            <a:off x="2514600" y="4325112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1B283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on recalcule l’embedding</a:t>
            </a:r>
            <a:endParaRPr/>
          </a:p>
        </p:txBody>
      </p:sp>
      <p:sp>
        <p:nvSpPr>
          <p:cNvPr id="326" name="Google Shape;326;p9"/>
          <p:cNvSpPr/>
          <p:nvPr/>
        </p:nvSpPr>
        <p:spPr>
          <a:xfrm>
            <a:off x="777240" y="4892040"/>
            <a:ext cx="1554480" cy="475488"/>
          </a:xfrm>
          <a:prstGeom prst="roundRect">
            <a:avLst>
              <a:gd fmla="val 15000" name="adj"/>
            </a:avLst>
          </a:prstGeom>
          <a:solidFill>
            <a:srgbClr val="0E1621"/>
          </a:solidFill>
          <a:ln>
            <a:noFill/>
          </a:ln>
        </p:spPr>
        <p:txBody>
          <a:bodyPr anchorCtr="0" anchor="ctr" bIns="91425" lIns="146300" spcFirstLastPara="1" rIns="128000" wrap="square" tIns="1097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6C0F4"/>
                </a:solidFill>
                <a:latin typeface="Consolas"/>
                <a:ea typeface="Consolas"/>
                <a:cs typeface="Consolas"/>
                <a:sym typeface="Consolas"/>
              </a:rPr>
              <a:t>delete</a:t>
            </a:r>
            <a:endParaRPr/>
          </a:p>
        </p:txBody>
      </p:sp>
      <p:sp>
        <p:nvSpPr>
          <p:cNvPr id="327" name="Google Shape;327;p9"/>
          <p:cNvSpPr txBox="1"/>
          <p:nvPr/>
        </p:nvSpPr>
        <p:spPr>
          <a:xfrm>
            <a:off x="2514600" y="4965192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1B283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suppression</a:t>
            </a:r>
            <a:endParaRPr/>
          </a:p>
        </p:txBody>
      </p:sp>
      <p:sp>
        <p:nvSpPr>
          <p:cNvPr id="328" name="Google Shape;328;p9"/>
          <p:cNvSpPr/>
          <p:nvPr/>
        </p:nvSpPr>
        <p:spPr>
          <a:xfrm>
            <a:off x="7589520" y="1280160"/>
            <a:ext cx="4069080" cy="2240280"/>
          </a:xfrm>
          <a:prstGeom prst="roundRect">
            <a:avLst>
              <a:gd fmla="val 5000" name="adj"/>
            </a:avLst>
          </a:prstGeom>
          <a:solidFill>
            <a:srgbClr val="0E162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9"/>
          <p:cNvSpPr txBox="1"/>
          <p:nvPr/>
        </p:nvSpPr>
        <p:spPr>
          <a:xfrm>
            <a:off x="7818120" y="1463040"/>
            <a:ext cx="3703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6C0F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ADMIN</a:t>
            </a:r>
            <a:endParaRPr/>
          </a:p>
        </p:txBody>
      </p:sp>
      <p:sp>
        <p:nvSpPr>
          <p:cNvPr id="330" name="Google Shape;330;p9"/>
          <p:cNvSpPr txBox="1"/>
          <p:nvPr/>
        </p:nvSpPr>
        <p:spPr>
          <a:xfrm>
            <a:off x="7818120" y="1828800"/>
            <a:ext cx="370332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B8C5D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Snapshots Qdrant, copie dans data/backups/, restore ensuite.</a:t>
            </a:r>
            <a:br>
              <a:rPr b="0" i="0" lang="en-US" sz="1400" u="none" cap="none" strike="noStrike">
                <a:solidFill>
                  <a:srgbClr val="B8C5D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</a:br>
            <a:r>
              <a:rPr b="0" i="0" lang="en-US" sz="1400" u="none" cap="none" strike="noStrike">
                <a:solidFill>
                  <a:srgbClr val="B8C5D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admin_qdrant.py info / snapshot / restore</a:t>
            </a:r>
            <a:endParaRPr/>
          </a:p>
        </p:txBody>
      </p:sp>
      <p:sp>
        <p:nvSpPr>
          <p:cNvPr id="331" name="Google Shape;331;p9"/>
          <p:cNvSpPr/>
          <p:nvPr/>
        </p:nvSpPr>
        <p:spPr>
          <a:xfrm>
            <a:off x="7589520" y="3749039"/>
            <a:ext cx="4069080" cy="2240280"/>
          </a:xfrm>
          <a:prstGeom prst="roundRect">
            <a:avLst>
              <a:gd fmla="val 5000" name="adj"/>
            </a:avLst>
          </a:prstGeom>
          <a:solidFill>
            <a:srgbClr val="FFFCF6"/>
          </a:solidFill>
          <a:ln cap="flat" cmpd="sng" w="12700">
            <a:solidFill>
              <a:srgbClr val="E4D9C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9"/>
          <p:cNvSpPr txBox="1"/>
          <p:nvPr/>
        </p:nvSpPr>
        <p:spPr>
          <a:xfrm>
            <a:off x="7818120" y="3931920"/>
            <a:ext cx="3703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F7AA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CLÉS</a:t>
            </a:r>
            <a:endParaRPr/>
          </a:p>
        </p:txBody>
      </p:sp>
      <p:sp>
        <p:nvSpPr>
          <p:cNvPr id="333" name="Google Shape;333;p9"/>
          <p:cNvSpPr txBox="1"/>
          <p:nvPr/>
        </p:nvSpPr>
        <p:spPr>
          <a:xfrm>
            <a:off x="7818120" y="4297680"/>
            <a:ext cx="3703320" cy="1417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C6B7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Steam et Qdrant dans .env, rien en dur.</a:t>
            </a:r>
            <a:br>
              <a:rPr b="0" i="0" lang="en-US" sz="1400" u="none" cap="none" strike="noStrike">
                <a:solidFill>
                  <a:srgbClr val="5C6B7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</a:br>
            <a:r>
              <a:rPr b="0" i="0" lang="en-US" sz="1400" u="none" cap="none" strike="noStrike">
                <a:solidFill>
                  <a:srgbClr val="5C6B7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 remote sans QDRANT_API_KEY, le script prévient. En localhost on peut la laisser vide.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6F1E8"/>
        </a:solidFill>
      </p:bgPr>
    </p:bg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1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66C0F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10"/>
          <p:cNvSpPr txBox="1"/>
          <p:nvPr/>
        </p:nvSpPr>
        <p:spPr>
          <a:xfrm>
            <a:off x="11109960" y="6510528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5C6B7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 / 11</a:t>
            </a:r>
            <a:endParaRPr/>
          </a:p>
        </p:txBody>
      </p:sp>
      <p:sp>
        <p:nvSpPr>
          <p:cNvPr id="341" name="Google Shape;341;p10"/>
          <p:cNvSpPr txBox="1"/>
          <p:nvPr/>
        </p:nvSpPr>
        <p:spPr>
          <a:xfrm>
            <a:off x="502920" y="256032"/>
            <a:ext cx="10515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F7AA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À LANCER</a:t>
            </a:r>
            <a:endParaRPr/>
          </a:p>
        </p:txBody>
      </p:sp>
      <p:sp>
        <p:nvSpPr>
          <p:cNvPr id="342" name="Google Shape;342;p10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1B283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Deux phrases, pas un discours</a:t>
            </a:r>
            <a:endParaRPr/>
          </a:p>
        </p:txBody>
      </p:sp>
      <p:sp>
        <p:nvSpPr>
          <p:cNvPr id="343" name="Google Shape;343;p10"/>
          <p:cNvSpPr/>
          <p:nvPr/>
        </p:nvSpPr>
        <p:spPr>
          <a:xfrm>
            <a:off x="502920" y="1280160"/>
            <a:ext cx="5532120" cy="3063240"/>
          </a:xfrm>
          <a:prstGeom prst="roundRect">
            <a:avLst>
              <a:gd fmla="val 5000" name="adj"/>
            </a:avLst>
          </a:prstGeom>
          <a:solidFill>
            <a:srgbClr val="0E162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10"/>
          <p:cNvSpPr txBox="1"/>
          <p:nvPr/>
        </p:nvSpPr>
        <p:spPr>
          <a:xfrm>
            <a:off x="777240" y="1463040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6C0F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REQUÊTE 1  ·  FILTRES</a:t>
            </a:r>
            <a:endParaRPr/>
          </a:p>
        </p:txBody>
      </p:sp>
      <p:sp>
        <p:nvSpPr>
          <p:cNvPr id="345" name="Google Shape;345;p10"/>
          <p:cNvSpPr txBox="1"/>
          <p:nvPr/>
        </p:nvSpPr>
        <p:spPr>
          <a:xfrm>
            <a:off x="777240" y="1874519"/>
            <a:ext cx="50292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a relaxing card game</a:t>
            </a:r>
            <a:br>
              <a:rPr b="1" i="0" lang="en-US" sz="22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b="1" i="0" lang="en-US" sz="22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with puzzles</a:t>
            </a:r>
            <a:endParaRPr/>
          </a:p>
        </p:txBody>
      </p:sp>
      <p:sp>
        <p:nvSpPr>
          <p:cNvPr id="346" name="Google Shape;346;p10"/>
          <p:cNvSpPr txBox="1"/>
          <p:nvPr/>
        </p:nvSpPr>
        <p:spPr>
          <a:xfrm>
            <a:off x="777240" y="2926080"/>
            <a:ext cx="502920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B8C5D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Prix max 15 $  ·  Linux coché</a:t>
            </a:r>
            <a:br>
              <a:rPr b="0" i="0" lang="en-US" sz="1400" u="none" cap="none" strike="noStrike">
                <a:solidFill>
                  <a:srgbClr val="B8C5D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</a:br>
            <a:r>
              <a:rPr lang="en-US">
                <a:solidFill>
                  <a:srgbClr val="B8C5D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</a:t>
            </a:r>
            <a:r>
              <a:rPr b="0" i="0" lang="en-US" sz="1400" u="none" cap="none" strike="noStrike">
                <a:solidFill>
                  <a:srgbClr val="B8C5D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montrer que le payload filtre, ce n’est pas que du cosine.</a:t>
            </a:r>
            <a:endParaRPr/>
          </a:p>
        </p:txBody>
      </p:sp>
      <p:sp>
        <p:nvSpPr>
          <p:cNvPr id="347" name="Google Shape;347;p10"/>
          <p:cNvSpPr/>
          <p:nvPr/>
        </p:nvSpPr>
        <p:spPr>
          <a:xfrm>
            <a:off x="6263640" y="1280160"/>
            <a:ext cx="5394960" cy="3063240"/>
          </a:xfrm>
          <a:prstGeom prst="roundRect">
            <a:avLst>
              <a:gd fmla="val 5000" name="adj"/>
            </a:avLst>
          </a:prstGeom>
          <a:solidFill>
            <a:srgbClr val="FFFCF6"/>
          </a:solidFill>
          <a:ln cap="flat" cmpd="sng" w="12700">
            <a:solidFill>
              <a:srgbClr val="E4D9C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" name="Google Shape;348;p10"/>
          <p:cNvSpPr txBox="1"/>
          <p:nvPr/>
        </p:nvSpPr>
        <p:spPr>
          <a:xfrm>
            <a:off x="6537960" y="1463040"/>
            <a:ext cx="4937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F7AA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REQUÊTE 2  ·  PAS DU MOT-CLÉ</a:t>
            </a:r>
            <a:endParaRPr/>
          </a:p>
        </p:txBody>
      </p:sp>
      <p:sp>
        <p:nvSpPr>
          <p:cNvPr id="349" name="Google Shape;349;p10"/>
          <p:cNvSpPr txBox="1"/>
          <p:nvPr/>
        </p:nvSpPr>
        <p:spPr>
          <a:xfrm>
            <a:off x="6537960" y="1874519"/>
            <a:ext cx="49377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1B2838"/>
                </a:solidFill>
                <a:latin typeface="Consolas"/>
                <a:ea typeface="Consolas"/>
                <a:cs typeface="Consolas"/>
                <a:sym typeface="Consolas"/>
              </a:rPr>
              <a:t>dark open world RPG</a:t>
            </a:r>
            <a:endParaRPr/>
          </a:p>
        </p:txBody>
      </p:sp>
      <p:sp>
        <p:nvSpPr>
          <p:cNvPr id="350" name="Google Shape;350;p10"/>
          <p:cNvSpPr txBox="1"/>
          <p:nvPr/>
        </p:nvSpPr>
        <p:spPr>
          <a:xfrm>
            <a:off x="6537960" y="2926080"/>
            <a:ext cx="493776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C6B7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Les titres n’ont pas forcément « dark » dedans. Si ça remonte des jeux sombres, c’est que l’embedding a compris la description.</a:t>
            </a:r>
            <a:endParaRPr/>
          </a:p>
        </p:txBody>
      </p:sp>
      <p:sp>
        <p:nvSpPr>
          <p:cNvPr id="351" name="Google Shape;351;p10"/>
          <p:cNvSpPr/>
          <p:nvPr/>
        </p:nvSpPr>
        <p:spPr>
          <a:xfrm>
            <a:off x="502920" y="4572000"/>
            <a:ext cx="11155680" cy="1417320"/>
          </a:xfrm>
          <a:prstGeom prst="roundRect">
            <a:avLst>
              <a:gd fmla="val 5000" name="adj"/>
            </a:avLst>
          </a:prstGeom>
          <a:solidFill>
            <a:srgbClr val="FFFCF6"/>
          </a:solidFill>
          <a:ln cap="flat" cmpd="sng" w="12700">
            <a:solidFill>
              <a:srgbClr val="E4D9C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10"/>
          <p:cNvSpPr txBox="1"/>
          <p:nvPr/>
        </p:nvSpPr>
        <p:spPr>
          <a:xfrm>
            <a:off x="777240" y="4754880"/>
            <a:ext cx="1060704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1B283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Ensuite : onglet Catalogue </a:t>
            </a:r>
            <a:r>
              <a:rPr lang="en-US" sz="1500">
                <a:solidFill>
                  <a:srgbClr val="1B283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:</a:t>
            </a:r>
            <a:r>
              <a:rPr b="0" i="0" lang="en-US" sz="1500" u="none" cap="none" strike="noStrike">
                <a:solidFill>
                  <a:srgbClr val="1B283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genres, prix, OS, sorties par année, tableau Steam API (joueurs / news).</a:t>
            </a:r>
            <a:br>
              <a:rPr b="0" i="0" lang="en-US" sz="1500" u="none" cap="none" strike="noStrike">
                <a:solidFill>
                  <a:srgbClr val="1B283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</a:br>
            <a:r>
              <a:rPr b="0" i="0" lang="en-US" sz="1500" u="none" cap="none" strike="noStrike">
                <a:solidFill>
                  <a:srgbClr val="1B283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Chaque résultat a le score cosine, le lien store, et la dernière news s’il y en a une.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6F1E8"/>
        </a:solidFill>
      </p:bgPr>
    </p:bg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1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66C0F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11"/>
          <p:cNvSpPr txBox="1"/>
          <p:nvPr/>
        </p:nvSpPr>
        <p:spPr>
          <a:xfrm>
            <a:off x="11109960" y="6510528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5C6B7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 / 11</a:t>
            </a:r>
            <a:endParaRPr/>
          </a:p>
        </p:txBody>
      </p:sp>
      <p:sp>
        <p:nvSpPr>
          <p:cNvPr id="360" name="Google Shape;360;p11"/>
          <p:cNvSpPr txBox="1"/>
          <p:nvPr/>
        </p:nvSpPr>
        <p:spPr>
          <a:xfrm>
            <a:off x="502920" y="256032"/>
            <a:ext cx="10515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F7AA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HONNÊTEMENT</a:t>
            </a:r>
            <a:endParaRPr/>
          </a:p>
        </p:txBody>
      </p:sp>
      <p:sp>
        <p:nvSpPr>
          <p:cNvPr id="361" name="Google Shape;361;p11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1B283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 qui cloche, et la suite</a:t>
            </a:r>
            <a:endParaRPr/>
          </a:p>
        </p:txBody>
      </p:sp>
      <p:sp>
        <p:nvSpPr>
          <p:cNvPr id="362" name="Google Shape;362;p11"/>
          <p:cNvSpPr/>
          <p:nvPr/>
        </p:nvSpPr>
        <p:spPr>
          <a:xfrm>
            <a:off x="502920" y="1280160"/>
            <a:ext cx="5532120" cy="1389888"/>
          </a:xfrm>
          <a:prstGeom prst="roundRect">
            <a:avLst>
              <a:gd fmla="val 5000" name="adj"/>
            </a:avLst>
          </a:prstGeom>
          <a:solidFill>
            <a:srgbClr val="FFFCF6"/>
          </a:solidFill>
          <a:ln cap="flat" cmpd="sng" w="12700">
            <a:solidFill>
              <a:srgbClr val="E4D9C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" name="Google Shape;363;p11"/>
          <p:cNvSpPr txBox="1"/>
          <p:nvPr/>
        </p:nvSpPr>
        <p:spPr>
          <a:xfrm>
            <a:off x="777240" y="1481328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B283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MiniLM est anglais</a:t>
            </a:r>
            <a:endParaRPr/>
          </a:p>
        </p:txBody>
      </p:sp>
      <p:sp>
        <p:nvSpPr>
          <p:cNvPr id="364" name="Google Shape;364;p11"/>
          <p:cNvSpPr txBox="1"/>
          <p:nvPr/>
        </p:nvSpPr>
        <p:spPr>
          <a:xfrm>
            <a:off x="777240" y="1920239"/>
            <a:ext cx="5029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C6B7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Une requête en français sort moins bien. On le dit dans l’app.</a:t>
            </a:r>
            <a:endParaRPr/>
          </a:p>
        </p:txBody>
      </p:sp>
      <p:sp>
        <p:nvSpPr>
          <p:cNvPr id="365" name="Google Shape;365;p11"/>
          <p:cNvSpPr/>
          <p:nvPr/>
        </p:nvSpPr>
        <p:spPr>
          <a:xfrm>
            <a:off x="6263640" y="1280160"/>
            <a:ext cx="5532120" cy="1389888"/>
          </a:xfrm>
          <a:prstGeom prst="roundRect">
            <a:avLst>
              <a:gd fmla="val 5000" name="adj"/>
            </a:avLst>
          </a:prstGeom>
          <a:solidFill>
            <a:srgbClr val="FFFCF6"/>
          </a:solidFill>
          <a:ln cap="flat" cmpd="sng" w="12700">
            <a:solidFill>
              <a:srgbClr val="E4D9C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11"/>
          <p:cNvSpPr txBox="1"/>
          <p:nvPr/>
        </p:nvSpPr>
        <p:spPr>
          <a:xfrm>
            <a:off x="6537959" y="1481328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B283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150 jeux côté API</a:t>
            </a:r>
            <a:endParaRPr/>
          </a:p>
        </p:txBody>
      </p:sp>
      <p:sp>
        <p:nvSpPr>
          <p:cNvPr id="367" name="Google Shape;367;p11"/>
          <p:cNvSpPr txBox="1"/>
          <p:nvPr/>
        </p:nvSpPr>
        <p:spPr>
          <a:xfrm>
            <a:off x="6537959" y="1920239"/>
            <a:ext cx="5029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C6B7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Pas tout le catalogue. Le dump, lui, est un snapshot.</a:t>
            </a:r>
            <a:endParaRPr/>
          </a:p>
        </p:txBody>
      </p:sp>
      <p:sp>
        <p:nvSpPr>
          <p:cNvPr id="368" name="Google Shape;368;p11"/>
          <p:cNvSpPr/>
          <p:nvPr/>
        </p:nvSpPr>
        <p:spPr>
          <a:xfrm>
            <a:off x="502920" y="2834639"/>
            <a:ext cx="5532120" cy="1389888"/>
          </a:xfrm>
          <a:prstGeom prst="roundRect">
            <a:avLst>
              <a:gd fmla="val 5000" name="adj"/>
            </a:avLst>
          </a:prstGeom>
          <a:solidFill>
            <a:srgbClr val="FFFCF6"/>
          </a:solidFill>
          <a:ln cap="flat" cmpd="sng" w="12700">
            <a:solidFill>
              <a:srgbClr val="E4D9C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9" name="Google Shape;369;p11"/>
          <p:cNvSpPr txBox="1"/>
          <p:nvPr/>
        </p:nvSpPr>
        <p:spPr>
          <a:xfrm>
            <a:off x="777240" y="3035808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B283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Qdrant en local</a:t>
            </a:r>
            <a:endParaRPr/>
          </a:p>
        </p:txBody>
      </p:sp>
      <p:sp>
        <p:nvSpPr>
          <p:cNvPr id="370" name="Google Shape;370;p11"/>
          <p:cNvSpPr txBox="1"/>
          <p:nvPr/>
        </p:nvSpPr>
        <p:spPr>
          <a:xfrm>
            <a:off x="777240" y="3474720"/>
            <a:ext cx="5029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C6B7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Docker, pas Atlas / Aura. On n’a pas déployé dans le cloud de l’énoncé.</a:t>
            </a:r>
            <a:endParaRPr/>
          </a:p>
        </p:txBody>
      </p:sp>
      <p:sp>
        <p:nvSpPr>
          <p:cNvPr id="371" name="Google Shape;371;p11"/>
          <p:cNvSpPr/>
          <p:nvPr/>
        </p:nvSpPr>
        <p:spPr>
          <a:xfrm>
            <a:off x="6263640" y="2834639"/>
            <a:ext cx="5532120" cy="1389888"/>
          </a:xfrm>
          <a:prstGeom prst="roundRect">
            <a:avLst>
              <a:gd fmla="val 5000" name="adj"/>
            </a:avLst>
          </a:prstGeom>
          <a:solidFill>
            <a:srgbClr val="FFFCF6"/>
          </a:solidFill>
          <a:ln cap="flat" cmpd="sng" w="12700">
            <a:solidFill>
              <a:srgbClr val="E4D9C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" name="Google Shape;372;p11"/>
          <p:cNvSpPr txBox="1"/>
          <p:nvPr/>
        </p:nvSpPr>
        <p:spPr>
          <a:xfrm>
            <a:off x="6537959" y="3035808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B283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Pas de rerank</a:t>
            </a:r>
            <a:endParaRPr/>
          </a:p>
        </p:txBody>
      </p:sp>
      <p:sp>
        <p:nvSpPr>
          <p:cNvPr id="373" name="Google Shape;373;p11"/>
          <p:cNvSpPr txBox="1"/>
          <p:nvPr/>
        </p:nvSpPr>
        <p:spPr>
          <a:xfrm>
            <a:off x="6537959" y="3474720"/>
            <a:ext cx="5029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C6B7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On filtre. On ne réordonne pas par popularité après coup.</a:t>
            </a:r>
            <a:endParaRPr/>
          </a:p>
        </p:txBody>
      </p:sp>
      <p:sp>
        <p:nvSpPr>
          <p:cNvPr id="374" name="Google Shape;374;p11"/>
          <p:cNvSpPr/>
          <p:nvPr/>
        </p:nvSpPr>
        <p:spPr>
          <a:xfrm>
            <a:off x="502920" y="4572000"/>
            <a:ext cx="11155680" cy="1417320"/>
          </a:xfrm>
          <a:prstGeom prst="roundRect">
            <a:avLst>
              <a:gd fmla="val 5000" name="adj"/>
            </a:avLst>
          </a:prstGeom>
          <a:solidFill>
            <a:srgbClr val="0E1621"/>
          </a:solidFill>
          <a:ln>
            <a:noFill/>
          </a:ln>
        </p:spPr>
        <p:txBody>
          <a:bodyPr anchorCtr="0" anchor="ctr" bIns="91425" lIns="146300" spcFirstLastPara="1" rIns="128000" wrap="square" tIns="1097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Questions ?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